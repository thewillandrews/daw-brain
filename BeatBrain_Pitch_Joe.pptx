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pic>
        <p:nvPicPr>
          <p:cNvPr id="3" name="Image 0" descr="preencoded.png">    </p:cNvPr>
          <p:cNvPicPr>
            <a:picLocks noChangeAspect="1"/>
          </p:cNvPicPr>
          <p:nvPr/>
        </p:nvPicPr>
        <p:blipFill>
          <a:blip r:embed="rId1"/>
          <a:stretch>
            <a:fillRect/>
          </a:stretch>
        </p:blipFill>
        <p:spPr>
          <a:xfrm>
            <a:off x="3886200" y="731520"/>
            <a:ext cx="1371600" cy="1371600"/>
          </a:xfrm>
          <a:prstGeom prst="rect">
            <a:avLst/>
          </a:prstGeom>
        </p:spPr>
      </p:pic>
      <p:sp>
        <p:nvSpPr>
          <p:cNvPr id="4" name="Text 1"/>
          <p:cNvSpPr/>
          <p:nvPr/>
        </p:nvSpPr>
        <p:spPr>
          <a:xfrm>
            <a:off x="457200" y="2103120"/>
            <a:ext cx="8229600" cy="822960"/>
          </a:xfrm>
          <a:prstGeom prst="rect">
            <a:avLst/>
          </a:prstGeom>
          <a:noFill/>
          <a:ln/>
        </p:spPr>
        <p:txBody>
          <a:bodyPr wrap="square" lIns="0" tIns="0" rIns="0" bIns="0" rtlCol="0" anchor="ctr"/>
          <a:lstStyle/>
          <a:p>
            <a:pPr algn="ctr" indent="0" marL="0">
              <a:buNone/>
            </a:pPr>
            <a:r>
              <a:rPr lang="en-US" sz="5200" dirty="0">
                <a:solidFill>
                  <a:srgbClr val="F0F0F5"/>
                </a:solidFill>
                <a:latin typeface="Arial Black" pitchFamily="34" charset="0"/>
                <a:ea typeface="Arial Black" pitchFamily="34" charset="-122"/>
                <a:cs typeface="Arial Black" pitchFamily="34" charset="-120"/>
              </a:rPr>
              <a:t>BeatBrain</a:t>
            </a:r>
            <a:endParaRPr lang="en-US" sz="5200" dirty="0"/>
          </a:p>
        </p:txBody>
      </p:sp>
      <p:sp>
        <p:nvSpPr>
          <p:cNvPr id="5" name="Text 2"/>
          <p:cNvSpPr/>
          <p:nvPr/>
        </p:nvSpPr>
        <p:spPr>
          <a:xfrm>
            <a:off x="457200" y="2880360"/>
            <a:ext cx="8229600" cy="457200"/>
          </a:xfrm>
          <a:prstGeom prst="rect">
            <a:avLst/>
          </a:prstGeom>
          <a:noFill/>
          <a:ln/>
        </p:spPr>
        <p:txBody>
          <a:bodyPr wrap="square" lIns="0" tIns="0" rIns="0" bIns="0" rtlCol="0" anchor="ctr"/>
          <a:lstStyle/>
          <a:p>
            <a:pPr algn="ctr" indent="0" marL="0">
              <a:buNone/>
            </a:pPr>
            <a:r>
              <a:rPr lang="en-US" sz="2000" spc="300" kern="0" dirty="0">
                <a:solidFill>
                  <a:srgbClr val="E8A230"/>
                </a:solidFill>
                <a:latin typeface="Arial" pitchFamily="34" charset="0"/>
                <a:ea typeface="Arial" pitchFamily="34" charset="-122"/>
                <a:cs typeface="Arial" pitchFamily="34" charset="-120"/>
              </a:rPr>
              <a:t>Your AI Production Partner</a:t>
            </a:r>
            <a:endParaRPr lang="en-US" sz="2000" dirty="0"/>
          </a:p>
        </p:txBody>
      </p:sp>
      <p:sp>
        <p:nvSpPr>
          <p:cNvPr id="6" name="Shape 3"/>
          <p:cNvSpPr/>
          <p:nvPr/>
        </p:nvSpPr>
        <p:spPr>
          <a:xfrm>
            <a:off x="3200400" y="3520440"/>
            <a:ext cx="2743200" cy="18288"/>
          </a:xfrm>
          <a:prstGeom prst="rectangle">
            <a:avLst/>
          </a:prstGeom>
          <a:solidFill>
            <a:srgbClr val="1E1E2E"/>
          </a:solidFill>
          <a:ln/>
        </p:spPr>
      </p:sp>
      <p:sp>
        <p:nvSpPr>
          <p:cNvPr id="7" name="Text 4"/>
          <p:cNvSpPr/>
          <p:nvPr/>
        </p:nvSpPr>
        <p:spPr>
          <a:xfrm>
            <a:off x="457200" y="3749040"/>
            <a:ext cx="8229600" cy="365760"/>
          </a:xfrm>
          <a:prstGeom prst="rect">
            <a:avLst/>
          </a:prstGeom>
          <a:noFill/>
          <a:ln/>
        </p:spPr>
        <p:txBody>
          <a:bodyPr wrap="square" rtlCol="0" anchor="ctr"/>
          <a:lstStyle/>
          <a:p>
            <a:pPr algn="ctr" indent="0" marL="0">
              <a:buNone/>
            </a:pPr>
            <a:r>
              <a:rPr lang="en-US" sz="1400" dirty="0">
                <a:solidFill>
                  <a:srgbClr val="B0B0C0"/>
                </a:solidFill>
                <a:latin typeface="Arial" pitchFamily="34" charset="0"/>
                <a:ea typeface="Arial" pitchFamily="34" charset="-122"/>
                <a:cs typeface="Arial" pitchFamily="34" charset="-120"/>
              </a:rPr>
              <a:t>A Partnership Opportunity for Joe Ciarletta</a:t>
            </a:r>
            <a:endParaRPr lang="en-US" sz="1400" dirty="0"/>
          </a:p>
        </p:txBody>
      </p:sp>
      <p:sp>
        <p:nvSpPr>
          <p:cNvPr id="8" name="Text 5"/>
          <p:cNvSpPr/>
          <p:nvPr/>
        </p:nvSpPr>
        <p:spPr>
          <a:xfrm>
            <a:off x="457200" y="4160520"/>
            <a:ext cx="8229600" cy="274320"/>
          </a:xfrm>
          <a:prstGeom prst="rect">
            <a:avLst/>
          </a:prstGeom>
          <a:noFill/>
          <a:ln/>
        </p:spPr>
        <p:txBody>
          <a:bodyPr wrap="square" rtlCol="0" anchor="ctr"/>
          <a:lstStyle/>
          <a:p>
            <a:pPr algn="ctr" indent="0" marL="0">
              <a:buNone/>
            </a:pPr>
            <a:r>
              <a:rPr lang="en-US" sz="1100" dirty="0">
                <a:solidFill>
                  <a:srgbClr val="6B6B80"/>
                </a:solidFill>
                <a:latin typeface="Arial" pitchFamily="34" charset="0"/>
                <a:ea typeface="Arial" pitchFamily="34" charset="-122"/>
                <a:cs typeface="Arial" pitchFamily="34" charset="-120"/>
              </a:rPr>
              <a:t>Will Andrews  |  March 2026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2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The Problem</a:t>
            </a:r>
            <a:endParaRPr lang="en-US" sz="3600" dirty="0"/>
          </a:p>
        </p:txBody>
      </p:sp>
      <p:sp>
        <p:nvSpPr>
          <p:cNvPr id="7" name="Shape 5"/>
          <p:cNvSpPr/>
          <p:nvPr/>
        </p:nvSpPr>
        <p:spPr>
          <a:xfrm>
            <a:off x="640080" y="118872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8" name="Image 0" descr="preencoded.png">    </p:cNvPr>
          <p:cNvPicPr>
            <a:picLocks noChangeAspect="1"/>
          </p:cNvPicPr>
          <p:nvPr/>
        </p:nvPicPr>
        <p:blipFill>
          <a:blip r:embed="rId1"/>
          <a:stretch>
            <a:fillRect/>
          </a:stretch>
        </p:blipFill>
        <p:spPr>
          <a:xfrm>
            <a:off x="914400" y="1417320"/>
            <a:ext cx="457200" cy="457200"/>
          </a:xfrm>
          <a:prstGeom prst="rect">
            <a:avLst/>
          </a:prstGeom>
        </p:spPr>
      </p:pic>
      <p:sp>
        <p:nvSpPr>
          <p:cNvPr id="9" name="Text 6"/>
          <p:cNvSpPr/>
          <p:nvPr/>
        </p:nvSpPr>
        <p:spPr>
          <a:xfrm>
            <a:off x="1554480" y="1280160"/>
            <a:ext cx="2743200" cy="36576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Beginners Drown</a:t>
            </a:r>
            <a:endParaRPr lang="en-US" sz="1600" dirty="0"/>
          </a:p>
        </p:txBody>
      </p:sp>
      <p:sp>
        <p:nvSpPr>
          <p:cNvPr id="10" name="Text 7"/>
          <p:cNvSpPr/>
          <p:nvPr/>
        </p:nvSpPr>
        <p:spPr>
          <a:xfrm>
            <a:off x="1554480" y="1600200"/>
            <a:ext cx="6675120" cy="502920"/>
          </a:xfrm>
          <a:prstGeom prst="rect">
            <a:avLst/>
          </a:prstGeom>
          <a:noFill/>
          <a:ln/>
        </p:spPr>
        <p:txBody>
          <a:bodyPr wrap="square" lIns="0" tIns="0" rIns="0" bIns="0" rtlCol="0" anchor="ctr"/>
          <a:lstStyle/>
          <a:p>
            <a:pPr indent="0" marL="0">
              <a:lnSpc>
                <a:spcPct val="130000"/>
              </a:lnSpc>
              <a:buNone/>
            </a:pPr>
            <a:r>
              <a:rPr lang="en-US" sz="1100" dirty="0">
                <a:solidFill>
                  <a:srgbClr val="B0B0C0"/>
                </a:solidFill>
                <a:latin typeface="Arial" pitchFamily="34" charset="0"/>
                <a:ea typeface="Arial" pitchFamily="34" charset="-122"/>
                <a:cs typeface="Arial" pitchFamily="34" charset="-120"/>
              </a:rPr>
              <a:t>Music production has a brutal learning curve. The tools are powerful but the knowledge gap is massive. Most people quit before finishing their first track. Every DJ in B2B who's tried to start producing has hit this wall.</a:t>
            </a:r>
            <a:endParaRPr lang="en-US" sz="1100" dirty="0"/>
          </a:p>
        </p:txBody>
      </p:sp>
      <p:sp>
        <p:nvSpPr>
          <p:cNvPr id="11" name="Shape 8"/>
          <p:cNvSpPr/>
          <p:nvPr/>
        </p:nvSpPr>
        <p:spPr>
          <a:xfrm>
            <a:off x="640080" y="237744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2" name="Image 1" descr="preencoded.png">    </p:cNvPr>
          <p:cNvPicPr>
            <a:picLocks noChangeAspect="1"/>
          </p:cNvPicPr>
          <p:nvPr/>
        </p:nvPicPr>
        <p:blipFill>
          <a:blip r:embed="rId2"/>
          <a:stretch>
            <a:fillRect/>
          </a:stretch>
        </p:blipFill>
        <p:spPr>
          <a:xfrm>
            <a:off x="914400" y="2606040"/>
            <a:ext cx="457200" cy="457200"/>
          </a:xfrm>
          <a:prstGeom prst="rect">
            <a:avLst/>
          </a:prstGeom>
        </p:spPr>
      </p:pic>
      <p:sp>
        <p:nvSpPr>
          <p:cNvPr id="13" name="Text 9"/>
          <p:cNvSpPr/>
          <p:nvPr/>
        </p:nvSpPr>
        <p:spPr>
          <a:xfrm>
            <a:off x="1554480" y="2468880"/>
            <a:ext cx="2743200" cy="36576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Experts Waste Time</a:t>
            </a:r>
            <a:endParaRPr lang="en-US" sz="1600" dirty="0"/>
          </a:p>
        </p:txBody>
      </p:sp>
      <p:sp>
        <p:nvSpPr>
          <p:cNvPr id="14" name="Text 10"/>
          <p:cNvSpPr/>
          <p:nvPr/>
        </p:nvSpPr>
        <p:spPr>
          <a:xfrm>
            <a:off x="1554480" y="2788920"/>
            <a:ext cx="6675120" cy="502920"/>
          </a:xfrm>
          <a:prstGeom prst="rect">
            <a:avLst/>
          </a:prstGeom>
          <a:noFill/>
          <a:ln/>
        </p:spPr>
        <p:txBody>
          <a:bodyPr wrap="square" lIns="0" tIns="0" rIns="0" bIns="0" rtlCol="0" anchor="ctr"/>
          <a:lstStyle/>
          <a:p>
            <a:pPr indent="0" marL="0">
              <a:lnSpc>
                <a:spcPct val="130000"/>
              </a:lnSpc>
              <a:buNone/>
            </a:pPr>
            <a:r>
              <a:rPr lang="en-US" sz="1100" dirty="0">
                <a:solidFill>
                  <a:srgbClr val="B0B0C0"/>
                </a:solidFill>
                <a:latin typeface="Arial" pitchFamily="34" charset="0"/>
                <a:ea typeface="Arial" pitchFamily="34" charset="-122"/>
                <a:cs typeface="Arial" pitchFamily="34" charset="-120"/>
              </a:rPr>
              <a:t>Experienced producers spend hours on repetitive tasks — setting up drums, building arrangements, dialing in signal chains. The creative bottleneck isn't ideas, it's execution speed.</a:t>
            </a:r>
            <a:endParaRPr lang="en-US" sz="1100" dirty="0"/>
          </a:p>
        </p:txBody>
      </p:sp>
      <p:sp>
        <p:nvSpPr>
          <p:cNvPr id="15" name="Shape 11"/>
          <p:cNvSpPr/>
          <p:nvPr/>
        </p:nvSpPr>
        <p:spPr>
          <a:xfrm>
            <a:off x="640080" y="356616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6" name="Image 2" descr="preencoded.png">    </p:cNvPr>
          <p:cNvPicPr>
            <a:picLocks noChangeAspect="1"/>
          </p:cNvPicPr>
          <p:nvPr/>
        </p:nvPicPr>
        <p:blipFill>
          <a:blip r:embed="rId3"/>
          <a:stretch>
            <a:fillRect/>
          </a:stretch>
        </p:blipFill>
        <p:spPr>
          <a:xfrm>
            <a:off x="914400" y="3794760"/>
            <a:ext cx="457200" cy="457200"/>
          </a:xfrm>
          <a:prstGeom prst="rect">
            <a:avLst/>
          </a:prstGeom>
        </p:spPr>
      </p:pic>
      <p:sp>
        <p:nvSpPr>
          <p:cNvPr id="17" name="Text 12"/>
          <p:cNvSpPr/>
          <p:nvPr/>
        </p:nvSpPr>
        <p:spPr>
          <a:xfrm>
            <a:off x="1554480" y="3657600"/>
            <a:ext cx="2743200" cy="36576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No Tool Meets You Where You Are</a:t>
            </a:r>
            <a:endParaRPr lang="en-US" sz="1600" dirty="0"/>
          </a:p>
        </p:txBody>
      </p:sp>
      <p:sp>
        <p:nvSpPr>
          <p:cNvPr id="18" name="Text 13"/>
          <p:cNvSpPr/>
          <p:nvPr/>
        </p:nvSpPr>
        <p:spPr>
          <a:xfrm>
            <a:off x="1554480" y="3977640"/>
            <a:ext cx="6675120" cy="502920"/>
          </a:xfrm>
          <a:prstGeom prst="rect">
            <a:avLst/>
          </a:prstGeom>
          <a:noFill/>
          <a:ln/>
        </p:spPr>
        <p:txBody>
          <a:bodyPr wrap="square" lIns="0" tIns="0" rIns="0" bIns="0" rtlCol="0" anchor="ctr"/>
          <a:lstStyle/>
          <a:p>
            <a:pPr indent="0" marL="0">
              <a:lnSpc>
                <a:spcPct val="130000"/>
              </a:lnSpc>
              <a:buNone/>
            </a:pPr>
            <a:r>
              <a:rPr lang="en-US" sz="1100" dirty="0">
                <a:solidFill>
                  <a:srgbClr val="B0B0C0"/>
                </a:solidFill>
                <a:latin typeface="Arial" pitchFamily="34" charset="0"/>
                <a:ea typeface="Arial" pitchFamily="34" charset="-122"/>
                <a:cs typeface="Arial" pitchFamily="34" charset="-120"/>
              </a:rPr>
              <a:t>YouTube tutorials are passive. Existing AI tools like Suno and Udio generate entire songs — replacing the musician instead of helping them. Nobody is building an AI copilot that makes you better.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3 / 17</a:t>
            </a:r>
            <a:endParaRPr lang="en-US" sz="900" dirty="0"/>
          </a:p>
        </p:txBody>
      </p:sp>
      <p:sp>
        <p:nvSpPr>
          <p:cNvPr id="6" name="Shape 4"/>
          <p:cNvSpPr/>
          <p:nvPr/>
        </p:nvSpPr>
        <p:spPr>
          <a:xfrm>
            <a:off x="640080" y="731520"/>
            <a:ext cx="7863840" cy="3474720"/>
          </a:xfrm>
          <a:prstGeom prst="rectangle">
            <a:avLst/>
          </a:prstGeom>
          <a:solidFill>
            <a:srgbClr val="111118"/>
          </a:solidFill>
          <a:ln/>
          <a:effectLst>
            <a:outerShdw sx="100000" sy="100000" kx="0" ky="0" algn="bl" rotWithShape="0" blurRad="101600" dist="38100" dir="8100000">
              <a:srgbClr val="000000">
                <a:alpha val="40000"/>
              </a:srgbClr>
            </a:outerShdw>
          </a:effectLst>
        </p:spPr>
      </p:sp>
      <p:sp>
        <p:nvSpPr>
          <p:cNvPr id="7" name="Text 5"/>
          <p:cNvSpPr/>
          <p:nvPr/>
        </p:nvSpPr>
        <p:spPr>
          <a:xfrm>
            <a:off x="1097280" y="914400"/>
            <a:ext cx="6949440" cy="640080"/>
          </a:xfrm>
          <a:prstGeom prst="rect">
            <a:avLst/>
          </a:prstGeom>
          <a:noFill/>
          <a:ln/>
        </p:spPr>
        <p:txBody>
          <a:bodyPr wrap="square" lIns="0" tIns="0" rIns="0" bIns="0" rtlCol="0" anchor="ctr"/>
          <a:lstStyle/>
          <a:p>
            <a:pPr algn="ctr" indent="0" marL="0">
              <a:buNone/>
            </a:pPr>
            <a:r>
              <a:rPr lang="en-US" sz="3000" dirty="0">
                <a:solidFill>
                  <a:srgbClr val="E8A230"/>
                </a:solidFill>
                <a:latin typeface="Arial Black" pitchFamily="34" charset="0"/>
                <a:ea typeface="Arial Black" pitchFamily="34" charset="-122"/>
                <a:cs typeface="Arial Black" pitchFamily="34" charset="-120"/>
              </a:rPr>
              <a:t>One Product. Every Skill Level.</a:t>
            </a:r>
            <a:endParaRPr lang="en-US" sz="3000" dirty="0"/>
          </a:p>
        </p:txBody>
      </p:sp>
      <p:sp>
        <p:nvSpPr>
          <p:cNvPr id="8" name="Shape 6"/>
          <p:cNvSpPr/>
          <p:nvPr/>
        </p:nvSpPr>
        <p:spPr>
          <a:xfrm>
            <a:off x="3200400" y="1600200"/>
            <a:ext cx="2743200" cy="18288"/>
          </a:xfrm>
          <a:prstGeom prst="rectangle">
            <a:avLst/>
          </a:prstGeom>
          <a:solidFill>
            <a:srgbClr val="1E1E2E"/>
          </a:solidFill>
          <a:ln/>
        </p:spPr>
      </p:sp>
      <p:sp>
        <p:nvSpPr>
          <p:cNvPr id="9" name="Text 7"/>
          <p:cNvSpPr/>
          <p:nvPr/>
        </p:nvSpPr>
        <p:spPr>
          <a:xfrm>
            <a:off x="1097280" y="1828800"/>
            <a:ext cx="6949440" cy="731520"/>
          </a:xfrm>
          <a:prstGeom prst="rect">
            <a:avLst/>
          </a:prstGeom>
          <a:noFill/>
          <a:ln/>
        </p:spPr>
        <p:txBody>
          <a:bodyPr wrap="square" lIns="0" tIns="0" rIns="0" bIns="0" rtlCol="0" anchor="ctr"/>
          <a:lstStyle/>
          <a:p>
            <a:pPr algn="ctr" indent="0" marL="0">
              <a:lnSpc>
                <a:spcPct val="150000"/>
              </a:lnSpc>
              <a:buNone/>
            </a:pPr>
            <a:r>
              <a:rPr lang="en-US" sz="1600" dirty="0">
                <a:solidFill>
                  <a:srgbClr val="F0F0F5"/>
                </a:solidFill>
                <a:latin typeface="Arial" pitchFamily="34" charset="0"/>
                <a:ea typeface="Arial" pitchFamily="34" charset="-122"/>
                <a:cs typeface="Arial" pitchFamily="34" charset="-120"/>
              </a:rPr>
              <a:t>If you already know what you're doing,</a:t>
            </a:r>
            <a:endParaRPr lang="en-US" sz="1600" dirty="0"/>
          </a:p>
          <a:p>
            <a:pPr algn="ctr" indent="0" marL="0">
              <a:lnSpc>
                <a:spcPct val="150000"/>
              </a:lnSpc>
              <a:buNone/>
            </a:pPr>
            <a:r>
              <a:rPr lang="en-US" sz="1600" dirty="0">
                <a:solidFill>
                  <a:srgbClr val="F0F0F5"/>
                </a:solidFill>
                <a:latin typeface="Arial" pitchFamily="34" charset="0"/>
                <a:ea typeface="Arial" pitchFamily="34" charset="-122"/>
                <a:cs typeface="Arial" pitchFamily="34" charset="-120"/>
              </a:rPr>
              <a:t>BeatBrain makes your workflow faster.</a:t>
            </a:r>
            <a:endParaRPr lang="en-US" sz="1600" dirty="0"/>
          </a:p>
        </p:txBody>
      </p:sp>
      <p:sp>
        <p:nvSpPr>
          <p:cNvPr id="10" name="Text 8"/>
          <p:cNvSpPr/>
          <p:nvPr/>
        </p:nvSpPr>
        <p:spPr>
          <a:xfrm>
            <a:off x="1097280" y="2651760"/>
            <a:ext cx="6949440" cy="731520"/>
          </a:xfrm>
          <a:prstGeom prst="rect">
            <a:avLst/>
          </a:prstGeom>
          <a:noFill/>
          <a:ln/>
        </p:spPr>
        <p:txBody>
          <a:bodyPr wrap="square" lIns="0" tIns="0" rIns="0" bIns="0" rtlCol="0" anchor="ctr"/>
          <a:lstStyle/>
          <a:p>
            <a:pPr algn="ctr" indent="0" marL="0">
              <a:lnSpc>
                <a:spcPct val="150000"/>
              </a:lnSpc>
              <a:buNone/>
            </a:pPr>
            <a:r>
              <a:rPr lang="en-US" sz="1600" dirty="0">
                <a:solidFill>
                  <a:srgbClr val="F0F0F5"/>
                </a:solidFill>
                <a:latin typeface="Arial" pitchFamily="34" charset="0"/>
                <a:ea typeface="Arial" pitchFamily="34" charset="-122"/>
                <a:cs typeface="Arial" pitchFamily="34" charset="-120"/>
              </a:rPr>
              <a:t>If you don't know what you're doing,</a:t>
            </a:r>
            <a:endParaRPr lang="en-US" sz="1600" dirty="0"/>
          </a:p>
          <a:p>
            <a:pPr algn="ctr" indent="0" marL="0">
              <a:lnSpc>
                <a:spcPct val="150000"/>
              </a:lnSpc>
              <a:buNone/>
            </a:pPr>
            <a:r>
              <a:rPr lang="en-US" sz="1600" dirty="0">
                <a:solidFill>
                  <a:srgbClr val="F0F0F5"/>
                </a:solidFill>
                <a:latin typeface="Arial" pitchFamily="34" charset="0"/>
                <a:ea typeface="Arial" pitchFamily="34" charset="-122"/>
                <a:cs typeface="Arial" pitchFamily="34" charset="-120"/>
              </a:rPr>
              <a:t>BeatBrain teaches you by building alongside you.</a:t>
            </a:r>
            <a:endParaRPr lang="en-US" sz="1600" dirty="0"/>
          </a:p>
        </p:txBody>
      </p:sp>
      <p:sp>
        <p:nvSpPr>
          <p:cNvPr id="11" name="Text 9"/>
          <p:cNvSpPr/>
          <p:nvPr/>
        </p:nvSpPr>
        <p:spPr>
          <a:xfrm>
            <a:off x="1097280" y="3566160"/>
            <a:ext cx="6949440" cy="457200"/>
          </a:xfrm>
          <a:prstGeom prst="rect">
            <a:avLst/>
          </a:prstGeom>
          <a:noFill/>
          <a:ln/>
        </p:spPr>
        <p:txBody>
          <a:bodyPr wrap="square" lIns="0" tIns="0" rIns="0" bIns="0" rtlCol="0" anchor="ctr"/>
          <a:lstStyle/>
          <a:p>
            <a:pPr algn="ctr" indent="0" marL="0">
              <a:buNone/>
            </a:pPr>
            <a:r>
              <a:rPr lang="en-US" sz="1300" i="1" dirty="0">
                <a:solidFill>
                  <a:srgbClr val="6B6B80"/>
                </a:solidFill>
                <a:latin typeface="Arial" pitchFamily="34" charset="0"/>
                <a:ea typeface="Arial" pitchFamily="34" charset="-122"/>
                <a:cs typeface="Arial" pitchFamily="34" charset="-120"/>
              </a:rPr>
              <a:t>A copilot, not a replacement. The musician stays in control.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4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What Is BeatBrain</a:t>
            </a:r>
            <a:endParaRPr lang="en-US" sz="3600" dirty="0"/>
          </a:p>
        </p:txBody>
      </p:sp>
      <p:sp>
        <p:nvSpPr>
          <p:cNvPr id="7" name="Text 5"/>
          <p:cNvSpPr/>
          <p:nvPr/>
        </p:nvSpPr>
        <p:spPr>
          <a:xfrm>
            <a:off x="640080" y="1051560"/>
            <a:ext cx="7863840" cy="731520"/>
          </a:xfrm>
          <a:prstGeom prst="rect">
            <a:avLst/>
          </a:prstGeom>
          <a:noFill/>
          <a:ln/>
        </p:spPr>
        <p:txBody>
          <a:bodyPr wrap="square" lIns="0" tIns="0" rIns="0" bIns="0" rtlCol="0" anchor="ctr"/>
          <a:lstStyle/>
          <a:p>
            <a:pPr indent="0" marL="0">
              <a:lnSpc>
                <a:spcPct val="150000"/>
              </a:lnSpc>
              <a:buNone/>
            </a:pPr>
            <a:r>
              <a:rPr lang="en-US" sz="1300" dirty="0">
                <a:solidFill>
                  <a:srgbClr val="B0B0C0"/>
                </a:solidFill>
                <a:latin typeface="Arial" pitchFamily="34" charset="0"/>
                <a:ea typeface="Arial" pitchFamily="34" charset="-122"/>
                <a:cs typeface="Arial" pitchFamily="34" charset="-120"/>
              </a:rPr>
              <a:t>An AI-powered production assistant for Ableton Live. Describe what you want in plain language — get back usable MIDI files, signal chains with exact parameter values, and production guidance shaped by 200KB+ of curated genre knowledge.</a:t>
            </a:r>
            <a:endParaRPr lang="en-US" sz="1300" dirty="0"/>
          </a:p>
        </p:txBody>
      </p:sp>
      <p:sp>
        <p:nvSpPr>
          <p:cNvPr id="8" name="Shape 6"/>
          <p:cNvSpPr/>
          <p:nvPr/>
        </p:nvSpPr>
        <p:spPr>
          <a:xfrm>
            <a:off x="640080" y="2011680"/>
            <a:ext cx="3749040" cy="118872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9" name="Image 0" descr="preencoded.png">    </p:cNvPr>
          <p:cNvPicPr>
            <a:picLocks noChangeAspect="1"/>
          </p:cNvPicPr>
          <p:nvPr/>
        </p:nvPicPr>
        <p:blipFill>
          <a:blip r:embed="rId1"/>
          <a:stretch>
            <a:fillRect/>
          </a:stretch>
        </p:blipFill>
        <p:spPr>
          <a:xfrm>
            <a:off x="868680" y="2331720"/>
            <a:ext cx="411480" cy="411480"/>
          </a:xfrm>
          <a:prstGeom prst="rect">
            <a:avLst/>
          </a:prstGeom>
        </p:spPr>
      </p:pic>
      <p:sp>
        <p:nvSpPr>
          <p:cNvPr id="10" name="Text 7"/>
          <p:cNvSpPr/>
          <p:nvPr/>
        </p:nvSpPr>
        <p:spPr>
          <a:xfrm>
            <a:off x="1463040" y="2148840"/>
            <a:ext cx="274320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MIDI Generation</a:t>
            </a:r>
            <a:endParaRPr lang="en-US" sz="1400" dirty="0"/>
          </a:p>
        </p:txBody>
      </p:sp>
      <p:sp>
        <p:nvSpPr>
          <p:cNvPr id="11" name="Text 8"/>
          <p:cNvSpPr/>
          <p:nvPr/>
        </p:nvSpPr>
        <p:spPr>
          <a:xfrm>
            <a:off x="1463040" y="2468880"/>
            <a:ext cx="2743200" cy="59436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Drum patterns, bass lines, melodies, arps — genre-aware with velocity, groove, and swing. Drag directly into Ableton.</a:t>
            </a:r>
            <a:endParaRPr lang="en-US" sz="1000" dirty="0"/>
          </a:p>
        </p:txBody>
      </p:sp>
      <p:sp>
        <p:nvSpPr>
          <p:cNvPr id="12" name="Shape 9"/>
          <p:cNvSpPr/>
          <p:nvPr/>
        </p:nvSpPr>
        <p:spPr>
          <a:xfrm>
            <a:off x="4754880" y="2011680"/>
            <a:ext cx="3749040" cy="118872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3" name="Image 1" descr="preencoded.png">    </p:cNvPr>
          <p:cNvPicPr>
            <a:picLocks noChangeAspect="1"/>
          </p:cNvPicPr>
          <p:nvPr/>
        </p:nvPicPr>
        <p:blipFill>
          <a:blip r:embed="rId2"/>
          <a:stretch>
            <a:fillRect/>
          </a:stretch>
        </p:blipFill>
        <p:spPr>
          <a:xfrm>
            <a:off x="4983480" y="2331720"/>
            <a:ext cx="411480" cy="411480"/>
          </a:xfrm>
          <a:prstGeom prst="rect">
            <a:avLst/>
          </a:prstGeom>
        </p:spPr>
      </p:pic>
      <p:sp>
        <p:nvSpPr>
          <p:cNvPr id="14" name="Text 10"/>
          <p:cNvSpPr/>
          <p:nvPr/>
        </p:nvSpPr>
        <p:spPr>
          <a:xfrm>
            <a:off x="5577840" y="2148840"/>
            <a:ext cx="2743200" cy="320040"/>
          </a:xfrm>
          <a:prstGeom prst="rect">
            <a:avLst/>
          </a:prstGeom>
          <a:noFill/>
          <a:ln/>
        </p:spPr>
        <p:txBody>
          <a:bodyPr wrap="square" lIns="0" tIns="0" rIns="0" bIns="0" rtlCol="0" anchor="ctr"/>
          <a:lstStyle/>
          <a:p>
            <a:pPr indent="0" marL="0">
              <a:buNone/>
            </a:pPr>
            <a:r>
              <a:rPr lang="en-US" sz="1400" b="1" dirty="0">
                <a:solidFill>
                  <a:srgbClr val="A78BFA"/>
                </a:solidFill>
                <a:latin typeface="Arial" pitchFamily="34" charset="0"/>
                <a:ea typeface="Arial" pitchFamily="34" charset="-122"/>
                <a:cs typeface="Arial" pitchFamily="34" charset="-120"/>
              </a:rPr>
              <a:t>Signal Chains</a:t>
            </a:r>
            <a:endParaRPr lang="en-US" sz="1400" dirty="0"/>
          </a:p>
        </p:txBody>
      </p:sp>
      <p:sp>
        <p:nvSpPr>
          <p:cNvPr id="15" name="Text 11"/>
          <p:cNvSpPr/>
          <p:nvPr/>
        </p:nvSpPr>
        <p:spPr>
          <a:xfrm>
            <a:off x="5577840" y="2468880"/>
            <a:ext cx="2743200" cy="59436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Exact plugin settings, device order, parameter values. Not "add some reverb" — specific, actionable production decisions.</a:t>
            </a:r>
            <a:endParaRPr lang="en-US" sz="1000" dirty="0"/>
          </a:p>
        </p:txBody>
      </p:sp>
      <p:sp>
        <p:nvSpPr>
          <p:cNvPr id="16" name="Shape 12"/>
          <p:cNvSpPr/>
          <p:nvPr/>
        </p:nvSpPr>
        <p:spPr>
          <a:xfrm>
            <a:off x="640080" y="3383280"/>
            <a:ext cx="3749040" cy="118872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7" name="Image 2" descr="preencoded.png">    </p:cNvPr>
          <p:cNvPicPr>
            <a:picLocks noChangeAspect="1"/>
          </p:cNvPicPr>
          <p:nvPr/>
        </p:nvPicPr>
        <p:blipFill>
          <a:blip r:embed="rId3"/>
          <a:stretch>
            <a:fillRect/>
          </a:stretch>
        </p:blipFill>
        <p:spPr>
          <a:xfrm>
            <a:off x="868680" y="3703320"/>
            <a:ext cx="411480" cy="411480"/>
          </a:xfrm>
          <a:prstGeom prst="rect">
            <a:avLst/>
          </a:prstGeom>
        </p:spPr>
      </p:pic>
      <p:sp>
        <p:nvSpPr>
          <p:cNvPr id="18" name="Text 13"/>
          <p:cNvSpPr/>
          <p:nvPr/>
        </p:nvSpPr>
        <p:spPr>
          <a:xfrm>
            <a:off x="1463040" y="3520440"/>
            <a:ext cx="2743200" cy="320040"/>
          </a:xfrm>
          <a:prstGeom prst="rect">
            <a:avLst/>
          </a:prstGeom>
          <a:noFill/>
          <a:ln/>
        </p:spPr>
        <p:txBody>
          <a:bodyPr wrap="square" lIns="0" tIns="0" rIns="0" bIns="0" rtlCol="0" anchor="ctr"/>
          <a:lstStyle/>
          <a:p>
            <a:pPr indent="0" marL="0">
              <a:buNone/>
            </a:pPr>
            <a:r>
              <a:rPr lang="en-US" sz="1400" b="1" dirty="0">
                <a:solidFill>
                  <a:srgbClr val="4ADE80"/>
                </a:solidFill>
                <a:latin typeface="Arial" pitchFamily="34" charset="0"/>
                <a:ea typeface="Arial" pitchFamily="34" charset="-122"/>
                <a:cs typeface="Arial" pitchFamily="34" charset="-120"/>
              </a:rPr>
              <a:t>Knowledge Engine</a:t>
            </a:r>
            <a:endParaRPr lang="en-US" sz="1400" dirty="0"/>
          </a:p>
        </p:txBody>
      </p:sp>
      <p:sp>
        <p:nvSpPr>
          <p:cNvPr id="19" name="Text 14"/>
          <p:cNvSpPr/>
          <p:nvPr/>
        </p:nvSpPr>
        <p:spPr>
          <a:xfrm>
            <a:off x="1463040" y="3840480"/>
            <a:ext cx="2743200" cy="59436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6 curated knowledge bases covering production, sound design, music theory, sampling, Ableton workflows, and sample sourcing.</a:t>
            </a:r>
            <a:endParaRPr lang="en-US" sz="1000" dirty="0"/>
          </a:p>
        </p:txBody>
      </p:sp>
      <p:sp>
        <p:nvSpPr>
          <p:cNvPr id="20" name="Shape 15"/>
          <p:cNvSpPr/>
          <p:nvPr/>
        </p:nvSpPr>
        <p:spPr>
          <a:xfrm>
            <a:off x="4754880" y="3383280"/>
            <a:ext cx="3749040" cy="118872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21" name="Image 3" descr="preencoded.png">    </p:cNvPr>
          <p:cNvPicPr>
            <a:picLocks noChangeAspect="1"/>
          </p:cNvPicPr>
          <p:nvPr/>
        </p:nvPicPr>
        <p:blipFill>
          <a:blip r:embed="rId4"/>
          <a:stretch>
            <a:fillRect/>
          </a:stretch>
        </p:blipFill>
        <p:spPr>
          <a:xfrm>
            <a:off x="4983480" y="3703320"/>
            <a:ext cx="411480" cy="411480"/>
          </a:xfrm>
          <a:prstGeom prst="rect">
            <a:avLst/>
          </a:prstGeom>
        </p:spPr>
      </p:pic>
      <p:sp>
        <p:nvSpPr>
          <p:cNvPr id="22" name="Text 16"/>
          <p:cNvSpPr/>
          <p:nvPr/>
        </p:nvSpPr>
        <p:spPr>
          <a:xfrm>
            <a:off x="5577840" y="3520440"/>
            <a:ext cx="2743200" cy="320040"/>
          </a:xfrm>
          <a:prstGeom prst="rect">
            <a:avLst/>
          </a:prstGeom>
          <a:noFill/>
          <a:ln/>
        </p:spPr>
        <p:txBody>
          <a:bodyPr wrap="square" lIns="0" tIns="0" rIns="0" bIns="0" rtlCol="0" anchor="ctr"/>
          <a:lstStyle/>
          <a:p>
            <a:pPr indent="0" marL="0">
              <a:buNone/>
            </a:pPr>
            <a:r>
              <a:rPr lang="en-US" sz="1400" b="1" dirty="0">
                <a:solidFill>
                  <a:srgbClr val="E8A230"/>
                </a:solidFill>
                <a:latin typeface="Arial" pitchFamily="34" charset="0"/>
                <a:ea typeface="Arial" pitchFamily="34" charset="-122"/>
                <a:cs typeface="Arial" pitchFamily="34" charset="-120"/>
              </a:rPr>
              <a:t>Vocal Separation</a:t>
            </a:r>
            <a:endParaRPr lang="en-US" sz="1400" dirty="0"/>
          </a:p>
        </p:txBody>
      </p:sp>
      <p:sp>
        <p:nvSpPr>
          <p:cNvPr id="23" name="Text 17"/>
          <p:cNvSpPr/>
          <p:nvPr/>
        </p:nvSpPr>
        <p:spPr>
          <a:xfrm>
            <a:off x="5577840" y="3840480"/>
            <a:ext cx="2743200" cy="59436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Built-in Kim Vocal 2 AI stem separation. Drop any track in, get back clean vocals and instrumental. Studio quality.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5 / 17</a:t>
            </a:r>
            <a:endParaRPr lang="en-US" sz="900" dirty="0"/>
          </a:p>
        </p:txBody>
      </p:sp>
      <p:sp>
        <p:nvSpPr>
          <p:cNvPr id="6" name="Text 4"/>
          <p:cNvSpPr/>
          <p:nvPr/>
        </p:nvSpPr>
        <p:spPr>
          <a:xfrm>
            <a:off x="640080" y="365760"/>
            <a:ext cx="45720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The Interface</a:t>
            </a:r>
            <a:endParaRPr lang="en-US" sz="3600" dirty="0"/>
          </a:p>
        </p:txBody>
      </p:sp>
      <p:sp>
        <p:nvSpPr>
          <p:cNvPr id="7" name="Text 5"/>
          <p:cNvSpPr/>
          <p:nvPr/>
        </p:nvSpPr>
        <p:spPr>
          <a:xfrm>
            <a:off x="5943600" y="457200"/>
            <a:ext cx="2560320" cy="365760"/>
          </a:xfrm>
          <a:prstGeom prst="rect">
            <a:avLst/>
          </a:prstGeom>
          <a:noFill/>
          <a:ln/>
        </p:spPr>
        <p:txBody>
          <a:bodyPr wrap="square" lIns="0" tIns="0" rIns="0" bIns="0" rtlCol="0" anchor="ctr"/>
          <a:lstStyle/>
          <a:p>
            <a:pPr algn="r" indent="0" marL="0">
              <a:buNone/>
            </a:pPr>
            <a:r>
              <a:rPr lang="en-US" sz="1400" b="1" dirty="0">
                <a:solidFill>
                  <a:srgbClr val="E8A230"/>
                </a:solidFill>
                <a:latin typeface="Arial" pitchFamily="34" charset="0"/>
                <a:ea typeface="Arial" pitchFamily="34" charset="-122"/>
                <a:cs typeface="Arial" pitchFamily="34" charset="-120"/>
              </a:rPr>
              <a:t>LIVE DEMO</a:t>
            </a:r>
            <a:endParaRPr lang="en-US" sz="1400" dirty="0"/>
          </a:p>
        </p:txBody>
      </p:sp>
      <p:sp>
        <p:nvSpPr>
          <p:cNvPr id="8" name="Shape 6"/>
          <p:cNvSpPr/>
          <p:nvPr/>
        </p:nvSpPr>
        <p:spPr>
          <a:xfrm>
            <a:off x="640080" y="1097280"/>
            <a:ext cx="7863840" cy="3474720"/>
          </a:xfrm>
          <a:prstGeom prst="rectangle">
            <a:avLst/>
          </a:prstGeom>
          <a:solidFill>
            <a:srgbClr val="111118"/>
          </a:solidFill>
          <a:ln/>
          <a:effectLst>
            <a:outerShdw sx="100000" sy="100000" kx="0" ky="0" algn="bl" rotWithShape="0" blurRad="101600" dist="38100" dir="8100000">
              <a:srgbClr val="000000">
                <a:alpha val="40000"/>
              </a:srgbClr>
            </a:outerShdw>
          </a:effectLst>
        </p:spPr>
      </p:sp>
      <p:sp>
        <p:nvSpPr>
          <p:cNvPr id="9" name="Shape 7"/>
          <p:cNvSpPr/>
          <p:nvPr/>
        </p:nvSpPr>
        <p:spPr>
          <a:xfrm>
            <a:off x="640080" y="1097280"/>
            <a:ext cx="7863840" cy="365760"/>
          </a:xfrm>
          <a:prstGeom prst="rectangle">
            <a:avLst/>
          </a:prstGeom>
          <a:solidFill>
            <a:srgbClr val="16161F"/>
          </a:solidFill>
          <a:ln/>
        </p:spPr>
      </p:sp>
      <p:sp>
        <p:nvSpPr>
          <p:cNvPr id="10" name="Text 8"/>
          <p:cNvSpPr/>
          <p:nvPr/>
        </p:nvSpPr>
        <p:spPr>
          <a:xfrm>
            <a:off x="822960" y="1097280"/>
            <a:ext cx="3657600" cy="365760"/>
          </a:xfrm>
          <a:prstGeom prst="rect">
            <a:avLst/>
          </a:prstGeom>
          <a:noFill/>
          <a:ln/>
        </p:spPr>
        <p:txBody>
          <a:bodyPr wrap="square" lIns="0" tIns="0" rIns="0" bIns="0" rtlCol="0" anchor="ctr"/>
          <a:lstStyle/>
          <a:p>
            <a:pPr indent="0" marL="0">
              <a:buNone/>
            </a:pPr>
            <a:r>
              <a:rPr lang="en-US" sz="1000" dirty="0">
                <a:solidFill>
                  <a:srgbClr val="6B6B80"/>
                </a:solidFill>
                <a:latin typeface="Consolas" pitchFamily="34" charset="0"/>
                <a:ea typeface="Consolas" pitchFamily="34" charset="-122"/>
                <a:cs typeface="Consolas" pitchFamily="34" charset="-120"/>
              </a:rPr>
              <a:t>128 BPM   |   E Minor   |   Tech House</a:t>
            </a:r>
            <a:endParaRPr lang="en-US" sz="1000" dirty="0"/>
          </a:p>
        </p:txBody>
      </p:sp>
      <p:sp>
        <p:nvSpPr>
          <p:cNvPr id="11" name="Text 9"/>
          <p:cNvSpPr/>
          <p:nvPr/>
        </p:nvSpPr>
        <p:spPr>
          <a:xfrm>
            <a:off x="5029200" y="1097280"/>
            <a:ext cx="3291840" cy="36576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Level:  Novice   Intermediate   Expert</a:t>
            </a:r>
            <a:endParaRPr lang="en-US" sz="1000" dirty="0"/>
          </a:p>
        </p:txBody>
      </p:sp>
      <p:sp>
        <p:nvSpPr>
          <p:cNvPr id="12" name="Text 10"/>
          <p:cNvSpPr/>
          <p:nvPr/>
        </p:nvSpPr>
        <p:spPr>
          <a:xfrm>
            <a:off x="731520" y="1600200"/>
            <a:ext cx="1417320" cy="274320"/>
          </a:xfrm>
          <a:prstGeom prst="rect">
            <a:avLst/>
          </a:prstGeom>
          <a:noFill/>
          <a:ln/>
        </p:spPr>
        <p:txBody>
          <a:bodyPr wrap="square" lIns="0" tIns="0" rIns="0" bIns="0" rtlCol="0" anchor="ctr"/>
          <a:lstStyle/>
          <a:p>
            <a:pPr algn="ctr" indent="0" marL="0">
              <a:buNone/>
            </a:pPr>
            <a:r>
              <a:rPr lang="en-US" sz="900" b="1" spc="200" kern="0" dirty="0">
                <a:solidFill>
                  <a:srgbClr val="F87171"/>
                </a:solidFill>
                <a:latin typeface="Arial" pitchFamily="34" charset="0"/>
                <a:ea typeface="Arial" pitchFamily="34" charset="-122"/>
                <a:cs typeface="Arial" pitchFamily="34" charset="-120"/>
              </a:rPr>
              <a:t>DRUMS</a:t>
            </a:r>
            <a:endParaRPr lang="en-US" sz="900" dirty="0"/>
          </a:p>
        </p:txBody>
      </p:sp>
      <p:sp>
        <p:nvSpPr>
          <p:cNvPr id="13" name="Shape 11"/>
          <p:cNvSpPr/>
          <p:nvPr/>
        </p:nvSpPr>
        <p:spPr>
          <a:xfrm>
            <a:off x="731520" y="1847088"/>
            <a:ext cx="1417320" cy="18288"/>
          </a:xfrm>
          <a:prstGeom prst="rectangle">
            <a:avLst/>
          </a:prstGeom>
          <a:solidFill>
            <a:srgbClr val="F87171"/>
          </a:solidFill>
          <a:ln/>
        </p:spPr>
      </p:sp>
      <p:sp>
        <p:nvSpPr>
          <p:cNvPr id="14" name="Text 12"/>
          <p:cNvSpPr/>
          <p:nvPr/>
        </p:nvSpPr>
        <p:spPr>
          <a:xfrm>
            <a:off x="731520" y="1965960"/>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Kick</a:t>
            </a:r>
            <a:endParaRPr lang="en-US" sz="800" dirty="0"/>
          </a:p>
        </p:txBody>
      </p:sp>
      <p:sp>
        <p:nvSpPr>
          <p:cNvPr id="15" name="Text 13"/>
          <p:cNvSpPr/>
          <p:nvPr/>
        </p:nvSpPr>
        <p:spPr>
          <a:xfrm>
            <a:off x="731520" y="2221992"/>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Clap/Snare</a:t>
            </a:r>
            <a:endParaRPr lang="en-US" sz="800" dirty="0"/>
          </a:p>
        </p:txBody>
      </p:sp>
      <p:sp>
        <p:nvSpPr>
          <p:cNvPr id="16" name="Text 14"/>
          <p:cNvSpPr/>
          <p:nvPr/>
        </p:nvSpPr>
        <p:spPr>
          <a:xfrm>
            <a:off x="731520" y="2478024"/>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Hats</a:t>
            </a:r>
            <a:endParaRPr lang="en-US" sz="800" dirty="0"/>
          </a:p>
        </p:txBody>
      </p:sp>
      <p:sp>
        <p:nvSpPr>
          <p:cNvPr id="17" name="Text 15"/>
          <p:cNvSpPr/>
          <p:nvPr/>
        </p:nvSpPr>
        <p:spPr>
          <a:xfrm>
            <a:off x="731520" y="2734056"/>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Perc</a:t>
            </a:r>
            <a:endParaRPr lang="en-US" sz="800" dirty="0"/>
          </a:p>
        </p:txBody>
      </p:sp>
      <p:sp>
        <p:nvSpPr>
          <p:cNvPr id="18" name="Text 16"/>
          <p:cNvSpPr/>
          <p:nvPr/>
        </p:nvSpPr>
        <p:spPr>
          <a:xfrm>
            <a:off x="731520" y="2990088"/>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Rides</a:t>
            </a:r>
            <a:endParaRPr lang="en-US" sz="800" dirty="0"/>
          </a:p>
        </p:txBody>
      </p:sp>
      <p:sp>
        <p:nvSpPr>
          <p:cNvPr id="19" name="Text 17"/>
          <p:cNvSpPr/>
          <p:nvPr/>
        </p:nvSpPr>
        <p:spPr>
          <a:xfrm>
            <a:off x="2286000" y="1600200"/>
            <a:ext cx="1417320" cy="274320"/>
          </a:xfrm>
          <a:prstGeom prst="rect">
            <a:avLst/>
          </a:prstGeom>
          <a:noFill/>
          <a:ln/>
        </p:spPr>
        <p:txBody>
          <a:bodyPr wrap="square" lIns="0" tIns="0" rIns="0" bIns="0" rtlCol="0" anchor="ctr"/>
          <a:lstStyle/>
          <a:p>
            <a:pPr algn="ctr" indent="0" marL="0">
              <a:buNone/>
            </a:pPr>
            <a:r>
              <a:rPr lang="en-US" sz="900" b="1" spc="200" kern="0" dirty="0">
                <a:solidFill>
                  <a:srgbClr val="38BDF8"/>
                </a:solidFill>
                <a:latin typeface="Arial" pitchFamily="34" charset="0"/>
                <a:ea typeface="Arial" pitchFamily="34" charset="-122"/>
                <a:cs typeface="Arial" pitchFamily="34" charset="-120"/>
              </a:rPr>
              <a:t>BASS</a:t>
            </a:r>
            <a:endParaRPr lang="en-US" sz="900" dirty="0"/>
          </a:p>
        </p:txBody>
      </p:sp>
      <p:sp>
        <p:nvSpPr>
          <p:cNvPr id="20" name="Shape 18"/>
          <p:cNvSpPr/>
          <p:nvPr/>
        </p:nvSpPr>
        <p:spPr>
          <a:xfrm>
            <a:off x="2286000" y="1847088"/>
            <a:ext cx="1417320" cy="18288"/>
          </a:xfrm>
          <a:prstGeom prst="rectangle">
            <a:avLst/>
          </a:prstGeom>
          <a:solidFill>
            <a:srgbClr val="38BDF8"/>
          </a:solidFill>
          <a:ln/>
        </p:spPr>
      </p:sp>
      <p:sp>
        <p:nvSpPr>
          <p:cNvPr id="21" name="Text 19"/>
          <p:cNvSpPr/>
          <p:nvPr/>
        </p:nvSpPr>
        <p:spPr>
          <a:xfrm>
            <a:off x="2286000" y="1965960"/>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Sub Bass</a:t>
            </a:r>
            <a:endParaRPr lang="en-US" sz="800" dirty="0"/>
          </a:p>
        </p:txBody>
      </p:sp>
      <p:sp>
        <p:nvSpPr>
          <p:cNvPr id="22" name="Text 20"/>
          <p:cNvSpPr/>
          <p:nvPr/>
        </p:nvSpPr>
        <p:spPr>
          <a:xfrm>
            <a:off x="2286000" y="2221992"/>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Mid Bass</a:t>
            </a:r>
            <a:endParaRPr lang="en-US" sz="800" dirty="0"/>
          </a:p>
        </p:txBody>
      </p:sp>
      <p:sp>
        <p:nvSpPr>
          <p:cNvPr id="23" name="Text 21"/>
          <p:cNvSpPr/>
          <p:nvPr/>
        </p:nvSpPr>
        <p:spPr>
          <a:xfrm>
            <a:off x="3840480" y="1600200"/>
            <a:ext cx="1417320" cy="274320"/>
          </a:xfrm>
          <a:prstGeom prst="rect">
            <a:avLst/>
          </a:prstGeom>
          <a:noFill/>
          <a:ln/>
        </p:spPr>
        <p:txBody>
          <a:bodyPr wrap="square" lIns="0" tIns="0" rIns="0" bIns="0" rtlCol="0" anchor="ctr"/>
          <a:lstStyle/>
          <a:p>
            <a:pPr algn="ctr" indent="0" marL="0">
              <a:buNone/>
            </a:pPr>
            <a:r>
              <a:rPr lang="en-US" sz="900" b="1" spc="200" kern="0" dirty="0">
                <a:solidFill>
                  <a:srgbClr val="A78BFA"/>
                </a:solidFill>
                <a:latin typeface="Arial" pitchFamily="34" charset="0"/>
                <a:ea typeface="Arial" pitchFamily="34" charset="-122"/>
                <a:cs typeface="Arial" pitchFamily="34" charset="-120"/>
              </a:rPr>
              <a:t>MELODIC</a:t>
            </a:r>
            <a:endParaRPr lang="en-US" sz="900" dirty="0"/>
          </a:p>
        </p:txBody>
      </p:sp>
      <p:sp>
        <p:nvSpPr>
          <p:cNvPr id="24" name="Shape 22"/>
          <p:cNvSpPr/>
          <p:nvPr/>
        </p:nvSpPr>
        <p:spPr>
          <a:xfrm>
            <a:off x="3840480" y="1847088"/>
            <a:ext cx="1417320" cy="18288"/>
          </a:xfrm>
          <a:prstGeom prst="rectangle">
            <a:avLst/>
          </a:prstGeom>
          <a:solidFill>
            <a:srgbClr val="A78BFA"/>
          </a:solidFill>
          <a:ln/>
        </p:spPr>
      </p:sp>
      <p:sp>
        <p:nvSpPr>
          <p:cNvPr id="25" name="Text 23"/>
          <p:cNvSpPr/>
          <p:nvPr/>
        </p:nvSpPr>
        <p:spPr>
          <a:xfrm>
            <a:off x="3840480" y="1965960"/>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Stabs</a:t>
            </a:r>
            <a:endParaRPr lang="en-US" sz="800" dirty="0"/>
          </a:p>
        </p:txBody>
      </p:sp>
      <p:sp>
        <p:nvSpPr>
          <p:cNvPr id="26" name="Text 24"/>
          <p:cNvSpPr/>
          <p:nvPr/>
        </p:nvSpPr>
        <p:spPr>
          <a:xfrm>
            <a:off x="3840480" y="2221992"/>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Lead</a:t>
            </a:r>
            <a:endParaRPr lang="en-US" sz="800" dirty="0"/>
          </a:p>
        </p:txBody>
      </p:sp>
      <p:sp>
        <p:nvSpPr>
          <p:cNvPr id="27" name="Text 25"/>
          <p:cNvSpPr/>
          <p:nvPr/>
        </p:nvSpPr>
        <p:spPr>
          <a:xfrm>
            <a:off x="3840480" y="2478024"/>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Chords</a:t>
            </a:r>
            <a:endParaRPr lang="en-US" sz="800" dirty="0"/>
          </a:p>
        </p:txBody>
      </p:sp>
      <p:sp>
        <p:nvSpPr>
          <p:cNvPr id="28" name="Text 26"/>
          <p:cNvSpPr/>
          <p:nvPr/>
        </p:nvSpPr>
        <p:spPr>
          <a:xfrm>
            <a:off x="3840480" y="2734056"/>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Pad</a:t>
            </a:r>
            <a:endParaRPr lang="en-US" sz="800" dirty="0"/>
          </a:p>
        </p:txBody>
      </p:sp>
      <p:sp>
        <p:nvSpPr>
          <p:cNvPr id="29" name="Text 27"/>
          <p:cNvSpPr/>
          <p:nvPr/>
        </p:nvSpPr>
        <p:spPr>
          <a:xfrm>
            <a:off x="3840480" y="2990088"/>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Arps</a:t>
            </a:r>
            <a:endParaRPr lang="en-US" sz="800" dirty="0"/>
          </a:p>
        </p:txBody>
      </p:sp>
      <p:sp>
        <p:nvSpPr>
          <p:cNvPr id="30" name="Text 28"/>
          <p:cNvSpPr/>
          <p:nvPr/>
        </p:nvSpPr>
        <p:spPr>
          <a:xfrm>
            <a:off x="5394960" y="1600200"/>
            <a:ext cx="1417320" cy="274320"/>
          </a:xfrm>
          <a:prstGeom prst="rect">
            <a:avLst/>
          </a:prstGeom>
          <a:noFill/>
          <a:ln/>
        </p:spPr>
        <p:txBody>
          <a:bodyPr wrap="square" lIns="0" tIns="0" rIns="0" bIns="0" rtlCol="0" anchor="ctr"/>
          <a:lstStyle/>
          <a:p>
            <a:pPr algn="ctr" indent="0" marL="0">
              <a:buNone/>
            </a:pPr>
            <a:r>
              <a:rPr lang="en-US" sz="900" b="1" spc="200" kern="0" dirty="0">
                <a:solidFill>
                  <a:srgbClr val="4ADE80"/>
                </a:solidFill>
                <a:latin typeface="Arial" pitchFamily="34" charset="0"/>
                <a:ea typeface="Arial" pitchFamily="34" charset="-122"/>
                <a:cs typeface="Arial" pitchFamily="34" charset="-120"/>
              </a:rPr>
              <a:t>VOCALS</a:t>
            </a:r>
            <a:endParaRPr lang="en-US" sz="900" dirty="0"/>
          </a:p>
        </p:txBody>
      </p:sp>
      <p:sp>
        <p:nvSpPr>
          <p:cNvPr id="31" name="Shape 29"/>
          <p:cNvSpPr/>
          <p:nvPr/>
        </p:nvSpPr>
        <p:spPr>
          <a:xfrm>
            <a:off x="5394960" y="1847088"/>
            <a:ext cx="1417320" cy="18288"/>
          </a:xfrm>
          <a:prstGeom prst="rectangle">
            <a:avLst/>
          </a:prstGeom>
          <a:solidFill>
            <a:srgbClr val="4ADE80"/>
          </a:solidFill>
          <a:ln/>
        </p:spPr>
      </p:sp>
      <p:sp>
        <p:nvSpPr>
          <p:cNvPr id="32" name="Text 30"/>
          <p:cNvSpPr/>
          <p:nvPr/>
        </p:nvSpPr>
        <p:spPr>
          <a:xfrm>
            <a:off x="5394960" y="1965960"/>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Main Vocal</a:t>
            </a:r>
            <a:endParaRPr lang="en-US" sz="800" dirty="0"/>
          </a:p>
        </p:txBody>
      </p:sp>
      <p:sp>
        <p:nvSpPr>
          <p:cNvPr id="33" name="Text 31"/>
          <p:cNvSpPr/>
          <p:nvPr/>
        </p:nvSpPr>
        <p:spPr>
          <a:xfrm>
            <a:off x="5394960" y="2221992"/>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Chops</a:t>
            </a:r>
            <a:endParaRPr lang="en-US" sz="800" dirty="0"/>
          </a:p>
        </p:txBody>
      </p:sp>
      <p:sp>
        <p:nvSpPr>
          <p:cNvPr id="34" name="Text 32"/>
          <p:cNvSpPr/>
          <p:nvPr/>
        </p:nvSpPr>
        <p:spPr>
          <a:xfrm>
            <a:off x="5394960" y="2478024"/>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Hook</a:t>
            </a:r>
            <a:endParaRPr lang="en-US" sz="800" dirty="0"/>
          </a:p>
        </p:txBody>
      </p:sp>
      <p:sp>
        <p:nvSpPr>
          <p:cNvPr id="35" name="Text 33"/>
          <p:cNvSpPr/>
          <p:nvPr/>
        </p:nvSpPr>
        <p:spPr>
          <a:xfrm>
            <a:off x="5394960" y="2734056"/>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Ad-libs</a:t>
            </a:r>
            <a:endParaRPr lang="en-US" sz="800" dirty="0"/>
          </a:p>
        </p:txBody>
      </p:sp>
      <p:sp>
        <p:nvSpPr>
          <p:cNvPr id="36" name="Text 34"/>
          <p:cNvSpPr/>
          <p:nvPr/>
        </p:nvSpPr>
        <p:spPr>
          <a:xfrm>
            <a:off x="6949440" y="1600200"/>
            <a:ext cx="1417320" cy="274320"/>
          </a:xfrm>
          <a:prstGeom prst="rect">
            <a:avLst/>
          </a:prstGeom>
          <a:noFill/>
          <a:ln/>
        </p:spPr>
        <p:txBody>
          <a:bodyPr wrap="square" lIns="0" tIns="0" rIns="0" bIns="0" rtlCol="0" anchor="ctr"/>
          <a:lstStyle/>
          <a:p>
            <a:pPr algn="ctr" indent="0" marL="0">
              <a:buNone/>
            </a:pPr>
            <a:r>
              <a:rPr lang="en-US" sz="900" b="1" spc="200" kern="0" dirty="0">
                <a:solidFill>
                  <a:srgbClr val="E8A230"/>
                </a:solidFill>
                <a:latin typeface="Arial" pitchFamily="34" charset="0"/>
                <a:ea typeface="Arial" pitchFamily="34" charset="-122"/>
                <a:cs typeface="Arial" pitchFamily="34" charset="-120"/>
              </a:rPr>
              <a:t>FX</a:t>
            </a:r>
            <a:endParaRPr lang="en-US" sz="900" dirty="0"/>
          </a:p>
        </p:txBody>
      </p:sp>
      <p:sp>
        <p:nvSpPr>
          <p:cNvPr id="37" name="Shape 35"/>
          <p:cNvSpPr/>
          <p:nvPr/>
        </p:nvSpPr>
        <p:spPr>
          <a:xfrm>
            <a:off x="6949440" y="1847088"/>
            <a:ext cx="1417320" cy="18288"/>
          </a:xfrm>
          <a:prstGeom prst="rectangle">
            <a:avLst/>
          </a:prstGeom>
          <a:solidFill>
            <a:srgbClr val="E8A230"/>
          </a:solidFill>
          <a:ln/>
        </p:spPr>
      </p:sp>
      <p:sp>
        <p:nvSpPr>
          <p:cNvPr id="38" name="Text 36"/>
          <p:cNvSpPr/>
          <p:nvPr/>
        </p:nvSpPr>
        <p:spPr>
          <a:xfrm>
            <a:off x="6949440" y="1965960"/>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Risers</a:t>
            </a:r>
            <a:endParaRPr lang="en-US" sz="800" dirty="0"/>
          </a:p>
        </p:txBody>
      </p:sp>
      <p:sp>
        <p:nvSpPr>
          <p:cNvPr id="39" name="Text 37"/>
          <p:cNvSpPr/>
          <p:nvPr/>
        </p:nvSpPr>
        <p:spPr>
          <a:xfrm>
            <a:off x="6949440" y="2221992"/>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Impacts</a:t>
            </a:r>
            <a:endParaRPr lang="en-US" sz="800" dirty="0"/>
          </a:p>
        </p:txBody>
      </p:sp>
      <p:sp>
        <p:nvSpPr>
          <p:cNvPr id="40" name="Text 38"/>
          <p:cNvSpPr/>
          <p:nvPr/>
        </p:nvSpPr>
        <p:spPr>
          <a:xfrm>
            <a:off x="6949440" y="2478024"/>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Sweeps</a:t>
            </a:r>
            <a:endParaRPr lang="en-US" sz="800" dirty="0"/>
          </a:p>
        </p:txBody>
      </p:sp>
      <p:sp>
        <p:nvSpPr>
          <p:cNvPr id="41" name="Text 39"/>
          <p:cNvSpPr/>
          <p:nvPr/>
        </p:nvSpPr>
        <p:spPr>
          <a:xfrm>
            <a:off x="6949440" y="2734056"/>
            <a:ext cx="1417320" cy="228600"/>
          </a:xfrm>
          <a:prstGeom prst="rect">
            <a:avLst/>
          </a:prstGeom>
          <a:noFill/>
          <a:ln/>
        </p:spPr>
        <p:txBody>
          <a:bodyPr wrap="square" lIns="0" tIns="0" rIns="0" bIns="0" rtlCol="0" anchor="ctr"/>
          <a:lstStyle/>
          <a:p>
            <a:pPr indent="0" marL="0">
              <a:buNone/>
            </a:pPr>
            <a:r>
              <a:rPr lang="en-US" sz="800" dirty="0">
                <a:solidFill>
                  <a:srgbClr val="6B6B80"/>
                </a:solidFill>
                <a:latin typeface="Arial" pitchFamily="34" charset="0"/>
                <a:ea typeface="Arial" pitchFamily="34" charset="-122"/>
                <a:cs typeface="Arial" pitchFamily="34" charset="-120"/>
              </a:rPr>
              <a:t>Transitions</a:t>
            </a:r>
            <a:endParaRPr lang="en-US" sz="800" dirty="0"/>
          </a:p>
        </p:txBody>
      </p:sp>
      <p:sp>
        <p:nvSpPr>
          <p:cNvPr id="42" name="Shape 40"/>
          <p:cNvSpPr/>
          <p:nvPr/>
        </p:nvSpPr>
        <p:spPr>
          <a:xfrm>
            <a:off x="640080" y="3429000"/>
            <a:ext cx="7863840" cy="27432"/>
          </a:xfrm>
          <a:prstGeom prst="rectangle">
            <a:avLst/>
          </a:prstGeom>
          <a:solidFill>
            <a:srgbClr val="1E1E2E"/>
          </a:solidFill>
          <a:ln/>
        </p:spPr>
      </p:sp>
      <p:sp>
        <p:nvSpPr>
          <p:cNvPr id="43" name="Text 41"/>
          <p:cNvSpPr/>
          <p:nvPr/>
        </p:nvSpPr>
        <p:spPr>
          <a:xfrm>
            <a:off x="822960" y="3520440"/>
            <a:ext cx="4572000" cy="274320"/>
          </a:xfrm>
          <a:prstGeom prst="rect">
            <a:avLst/>
          </a:prstGeom>
          <a:noFill/>
          <a:ln/>
        </p:spPr>
        <p:txBody>
          <a:bodyPr wrap="square" lIns="0" tIns="0" rIns="0" bIns="0" rtlCol="0" anchor="ctr"/>
          <a:lstStyle/>
          <a:p>
            <a:pPr indent="0" marL="0">
              <a:buNone/>
            </a:pPr>
            <a:r>
              <a:rPr lang="en-US" sz="900" i="1" dirty="0">
                <a:solidFill>
                  <a:srgbClr val="6B6B80"/>
                </a:solidFill>
                <a:latin typeface="Arial" pitchFamily="34" charset="0"/>
                <a:ea typeface="Arial" pitchFamily="34" charset="-122"/>
                <a:cs typeface="Arial" pitchFamily="34" charset="-120"/>
              </a:rPr>
              <a:t>Element Chat  —  contextual AI for each track element</a:t>
            </a:r>
            <a:endParaRPr lang="en-US" sz="900" dirty="0"/>
          </a:p>
        </p:txBody>
      </p:sp>
      <p:sp>
        <p:nvSpPr>
          <p:cNvPr id="44" name="Text 42"/>
          <p:cNvSpPr/>
          <p:nvPr/>
        </p:nvSpPr>
        <p:spPr>
          <a:xfrm>
            <a:off x="640080" y="4160520"/>
            <a:ext cx="7863840" cy="274320"/>
          </a:xfrm>
          <a:prstGeom prst="rect">
            <a:avLst/>
          </a:prstGeom>
          <a:noFill/>
          <a:ln/>
        </p:spPr>
        <p:txBody>
          <a:bodyPr wrap="square" lIns="0" tIns="0" rIns="0" bIns="0" rtlCol="0" anchor="ctr"/>
          <a:lstStyle/>
          <a:p>
            <a:pPr algn="ctr" indent="0" marL="0">
              <a:buNone/>
            </a:pPr>
            <a:r>
              <a:rPr lang="en-US" sz="1000" dirty="0">
                <a:solidFill>
                  <a:srgbClr val="B0B0C0"/>
                </a:solidFill>
                <a:latin typeface="Arial" pitchFamily="34" charset="0"/>
                <a:ea typeface="Arial" pitchFamily="34" charset="-122"/>
                <a:cs typeface="Arial" pitchFamily="34" charset="-120"/>
              </a:rPr>
              <a:t>25+ track elements  |  Per-element chat  |  Cross-element awareness  |  MIDI preview with piano roll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6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Adaptive Skill Levels</a:t>
            </a:r>
            <a:endParaRPr lang="en-US" sz="3600" dirty="0"/>
          </a:p>
        </p:txBody>
      </p:sp>
      <p:sp>
        <p:nvSpPr>
          <p:cNvPr id="7" name="Text 5"/>
          <p:cNvSpPr/>
          <p:nvPr/>
        </p:nvSpPr>
        <p:spPr>
          <a:xfrm>
            <a:off x="640080" y="914400"/>
            <a:ext cx="7863840" cy="36576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Same request, three different experiences. The AI adapts to you — not the other way around.</a:t>
            </a:r>
            <a:endParaRPr lang="en-US" sz="1300" dirty="0"/>
          </a:p>
        </p:txBody>
      </p:sp>
      <p:sp>
        <p:nvSpPr>
          <p:cNvPr id="8" name="Shape 6"/>
          <p:cNvSpPr/>
          <p:nvPr/>
        </p:nvSpPr>
        <p:spPr>
          <a:xfrm>
            <a:off x="640080" y="141732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9" name="Shape 7"/>
          <p:cNvSpPr/>
          <p:nvPr/>
        </p:nvSpPr>
        <p:spPr>
          <a:xfrm>
            <a:off x="640080" y="1417320"/>
            <a:ext cx="54864" cy="1005840"/>
          </a:xfrm>
          <a:prstGeom prst="rectangle">
            <a:avLst/>
          </a:prstGeom>
          <a:solidFill>
            <a:srgbClr val="E8A230"/>
          </a:solidFill>
          <a:ln/>
        </p:spPr>
      </p:sp>
      <p:sp>
        <p:nvSpPr>
          <p:cNvPr id="10" name="Text 8"/>
          <p:cNvSpPr/>
          <p:nvPr/>
        </p:nvSpPr>
        <p:spPr>
          <a:xfrm>
            <a:off x="960120" y="1490472"/>
            <a:ext cx="1371600" cy="274320"/>
          </a:xfrm>
          <a:prstGeom prst="rect">
            <a:avLst/>
          </a:prstGeom>
          <a:noFill/>
          <a:ln/>
        </p:spPr>
        <p:txBody>
          <a:bodyPr wrap="square" lIns="0" tIns="0" rIns="0" bIns="0" rtlCol="0" anchor="ctr"/>
          <a:lstStyle/>
          <a:p>
            <a:pPr indent="0" marL="0">
              <a:buNone/>
            </a:pPr>
            <a:r>
              <a:rPr lang="en-US" sz="1500" b="1" dirty="0">
                <a:solidFill>
                  <a:srgbClr val="E8A230"/>
                </a:solidFill>
                <a:latin typeface="Arial" pitchFamily="34" charset="0"/>
                <a:ea typeface="Arial" pitchFamily="34" charset="-122"/>
                <a:cs typeface="Arial" pitchFamily="34" charset="-120"/>
              </a:rPr>
              <a:t>Expert</a:t>
            </a:r>
            <a:endParaRPr lang="en-US" sz="1500" dirty="0"/>
          </a:p>
        </p:txBody>
      </p:sp>
      <p:sp>
        <p:nvSpPr>
          <p:cNvPr id="11" name="Text 9"/>
          <p:cNvSpPr/>
          <p:nvPr/>
        </p:nvSpPr>
        <p:spPr>
          <a:xfrm>
            <a:off x="2194560" y="1490472"/>
            <a:ext cx="2743200" cy="274320"/>
          </a:xfrm>
          <a:prstGeom prst="rect">
            <a:avLst/>
          </a:prstGeom>
          <a:noFill/>
          <a:ln/>
        </p:spPr>
        <p:txBody>
          <a:bodyPr wrap="square" lIns="0" tIns="0" rIns="0" bIns="0" rtlCol="0" anchor="ctr"/>
          <a:lstStyle/>
          <a:p>
            <a:pPr indent="0" marL="0">
              <a:buNone/>
            </a:pPr>
            <a:r>
              <a:rPr lang="en-US" sz="1000" i="1" dirty="0">
                <a:solidFill>
                  <a:srgbClr val="6B6B80"/>
                </a:solidFill>
                <a:latin typeface="Consolas" pitchFamily="34" charset="0"/>
                <a:ea typeface="Consolas" pitchFamily="34" charset="-122"/>
                <a:cs typeface="Consolas" pitchFamily="34" charset="-120"/>
              </a:rPr>
              <a:t>"Give me a kick pattern"</a:t>
            </a:r>
            <a:endParaRPr lang="en-US" sz="1000" dirty="0"/>
          </a:p>
        </p:txBody>
      </p:sp>
      <p:sp>
        <p:nvSpPr>
          <p:cNvPr id="12" name="Text 10"/>
          <p:cNvSpPr/>
          <p:nvPr/>
        </p:nvSpPr>
        <p:spPr>
          <a:xfrm>
            <a:off x="960120" y="1783080"/>
            <a:ext cx="7315200" cy="548640"/>
          </a:xfrm>
          <a:prstGeom prst="rect">
            <a:avLst/>
          </a:prstGeom>
          <a:noFill/>
          <a:ln/>
        </p:spPr>
        <p:txBody>
          <a:bodyPr wrap="square" lIns="0" tIns="0" rIns="0" bIns="0" rtlCol="0" anchor="ctr"/>
          <a:lstStyle/>
          <a:p>
            <a:pPr indent="0" marL="0">
              <a:lnSpc>
                <a:spcPct val="140000"/>
              </a:lnSpc>
              <a:buNone/>
            </a:pPr>
            <a:r>
              <a:rPr lang="en-US" sz="1050" dirty="0">
                <a:solidFill>
                  <a:srgbClr val="B0B0C0"/>
                </a:solidFill>
                <a:latin typeface="Arial" pitchFamily="34" charset="0"/>
                <a:ea typeface="Arial" pitchFamily="34" charset="-122"/>
                <a:cs typeface="Arial" pitchFamily="34" charset="-120"/>
              </a:rPr>
              <a:t>4-bar kick. Four-on-the-floor on 1-2-3-4, ghost kicks at 2.3 and 4.3 at vel 60. Kicks removed on beats 2 and 4 where claps land.</a:t>
            </a:r>
            <a:endParaRPr lang="en-US" sz="1050" dirty="0"/>
          </a:p>
        </p:txBody>
      </p:sp>
      <p:sp>
        <p:nvSpPr>
          <p:cNvPr id="13" name="Shape 11"/>
          <p:cNvSpPr/>
          <p:nvPr/>
        </p:nvSpPr>
        <p:spPr>
          <a:xfrm>
            <a:off x="640080" y="256032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4" name="Shape 12"/>
          <p:cNvSpPr/>
          <p:nvPr/>
        </p:nvSpPr>
        <p:spPr>
          <a:xfrm>
            <a:off x="640080" y="2560320"/>
            <a:ext cx="54864" cy="1005840"/>
          </a:xfrm>
          <a:prstGeom prst="rectangle">
            <a:avLst/>
          </a:prstGeom>
          <a:solidFill>
            <a:srgbClr val="38BDF8"/>
          </a:solidFill>
          <a:ln/>
        </p:spPr>
      </p:sp>
      <p:sp>
        <p:nvSpPr>
          <p:cNvPr id="15" name="Text 13"/>
          <p:cNvSpPr/>
          <p:nvPr/>
        </p:nvSpPr>
        <p:spPr>
          <a:xfrm>
            <a:off x="960120" y="2633472"/>
            <a:ext cx="1371600" cy="274320"/>
          </a:xfrm>
          <a:prstGeom prst="rect">
            <a:avLst/>
          </a:prstGeom>
          <a:noFill/>
          <a:ln/>
        </p:spPr>
        <p:txBody>
          <a:bodyPr wrap="square" lIns="0" tIns="0" rIns="0" bIns="0" rtlCol="0" anchor="ctr"/>
          <a:lstStyle/>
          <a:p>
            <a:pPr indent="0" marL="0">
              <a:buNone/>
            </a:pPr>
            <a:r>
              <a:rPr lang="en-US" sz="1500" b="1" dirty="0">
                <a:solidFill>
                  <a:srgbClr val="38BDF8"/>
                </a:solidFill>
                <a:latin typeface="Arial" pitchFamily="34" charset="0"/>
                <a:ea typeface="Arial" pitchFamily="34" charset="-122"/>
                <a:cs typeface="Arial" pitchFamily="34" charset="-120"/>
              </a:rPr>
              <a:t>Intermediate</a:t>
            </a:r>
            <a:endParaRPr lang="en-US" sz="1500" dirty="0"/>
          </a:p>
        </p:txBody>
      </p:sp>
      <p:sp>
        <p:nvSpPr>
          <p:cNvPr id="16" name="Text 14"/>
          <p:cNvSpPr/>
          <p:nvPr/>
        </p:nvSpPr>
        <p:spPr>
          <a:xfrm>
            <a:off x="2194560" y="2633472"/>
            <a:ext cx="2743200" cy="274320"/>
          </a:xfrm>
          <a:prstGeom prst="rect">
            <a:avLst/>
          </a:prstGeom>
          <a:noFill/>
          <a:ln/>
        </p:spPr>
        <p:txBody>
          <a:bodyPr wrap="square" lIns="0" tIns="0" rIns="0" bIns="0" rtlCol="0" anchor="ctr"/>
          <a:lstStyle/>
          <a:p>
            <a:pPr indent="0" marL="0">
              <a:buNone/>
            </a:pPr>
            <a:r>
              <a:rPr lang="en-US" sz="1000" i="1" dirty="0">
                <a:solidFill>
                  <a:srgbClr val="6B6B80"/>
                </a:solidFill>
                <a:latin typeface="Consolas" pitchFamily="34" charset="0"/>
                <a:ea typeface="Consolas" pitchFamily="34" charset="-122"/>
                <a:cs typeface="Consolas" pitchFamily="34" charset="-120"/>
              </a:rPr>
              <a:t>"Give me a kick pattern"</a:t>
            </a:r>
            <a:endParaRPr lang="en-US" sz="1000" dirty="0"/>
          </a:p>
        </p:txBody>
      </p:sp>
      <p:sp>
        <p:nvSpPr>
          <p:cNvPr id="17" name="Text 15"/>
          <p:cNvSpPr/>
          <p:nvPr/>
        </p:nvSpPr>
        <p:spPr>
          <a:xfrm>
            <a:off x="960120" y="2926080"/>
            <a:ext cx="7315200" cy="548640"/>
          </a:xfrm>
          <a:prstGeom prst="rect">
            <a:avLst/>
          </a:prstGeom>
          <a:noFill/>
          <a:ln/>
        </p:spPr>
        <p:txBody>
          <a:bodyPr wrap="square" lIns="0" tIns="0" rIns="0" bIns="0" rtlCol="0" anchor="ctr"/>
          <a:lstStyle/>
          <a:p>
            <a:pPr indent="0" marL="0">
              <a:lnSpc>
                <a:spcPct val="140000"/>
              </a:lnSpc>
              <a:buNone/>
            </a:pPr>
            <a:r>
              <a:rPr lang="en-US" sz="1050" dirty="0">
                <a:solidFill>
                  <a:srgbClr val="B0B0C0"/>
                </a:solidFill>
                <a:latin typeface="Arial" pitchFamily="34" charset="0"/>
                <a:ea typeface="Arial" pitchFamily="34" charset="-122"/>
                <a:cs typeface="Arial" pitchFamily="34" charset="-120"/>
              </a:rPr>
              <a:t>4-bar kick. Four-on-the-floor with ghost kicks at .3 positions, vel 60. Kicks pulled on 2 and 4 for clap clarity. The .3 ghosts drive the offbeat push that defines tech house groove.</a:t>
            </a:r>
            <a:endParaRPr lang="en-US" sz="1050" dirty="0"/>
          </a:p>
        </p:txBody>
      </p:sp>
      <p:sp>
        <p:nvSpPr>
          <p:cNvPr id="18" name="Shape 16"/>
          <p:cNvSpPr/>
          <p:nvPr/>
        </p:nvSpPr>
        <p:spPr>
          <a:xfrm>
            <a:off x="640080" y="3703320"/>
            <a:ext cx="786384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9" name="Shape 17"/>
          <p:cNvSpPr/>
          <p:nvPr/>
        </p:nvSpPr>
        <p:spPr>
          <a:xfrm>
            <a:off x="640080" y="3703320"/>
            <a:ext cx="54864" cy="1005840"/>
          </a:xfrm>
          <a:prstGeom prst="rectangle">
            <a:avLst/>
          </a:prstGeom>
          <a:solidFill>
            <a:srgbClr val="4ADE80"/>
          </a:solidFill>
          <a:ln/>
        </p:spPr>
      </p:sp>
      <p:sp>
        <p:nvSpPr>
          <p:cNvPr id="20" name="Text 18"/>
          <p:cNvSpPr/>
          <p:nvPr/>
        </p:nvSpPr>
        <p:spPr>
          <a:xfrm>
            <a:off x="960120" y="3776472"/>
            <a:ext cx="1371600" cy="274320"/>
          </a:xfrm>
          <a:prstGeom prst="rect">
            <a:avLst/>
          </a:prstGeom>
          <a:noFill/>
          <a:ln/>
        </p:spPr>
        <p:txBody>
          <a:bodyPr wrap="square" lIns="0" tIns="0" rIns="0" bIns="0" rtlCol="0" anchor="ctr"/>
          <a:lstStyle/>
          <a:p>
            <a:pPr indent="0" marL="0">
              <a:buNone/>
            </a:pPr>
            <a:r>
              <a:rPr lang="en-US" sz="1500" b="1" dirty="0">
                <a:solidFill>
                  <a:srgbClr val="4ADE80"/>
                </a:solidFill>
                <a:latin typeface="Arial" pitchFamily="34" charset="0"/>
                <a:ea typeface="Arial" pitchFamily="34" charset="-122"/>
                <a:cs typeface="Arial" pitchFamily="34" charset="-120"/>
              </a:rPr>
              <a:t>Novice</a:t>
            </a:r>
            <a:endParaRPr lang="en-US" sz="1500" dirty="0"/>
          </a:p>
        </p:txBody>
      </p:sp>
      <p:sp>
        <p:nvSpPr>
          <p:cNvPr id="21" name="Text 19"/>
          <p:cNvSpPr/>
          <p:nvPr/>
        </p:nvSpPr>
        <p:spPr>
          <a:xfrm>
            <a:off x="2194560" y="3776472"/>
            <a:ext cx="2743200" cy="274320"/>
          </a:xfrm>
          <a:prstGeom prst="rect">
            <a:avLst/>
          </a:prstGeom>
          <a:noFill/>
          <a:ln/>
        </p:spPr>
        <p:txBody>
          <a:bodyPr wrap="square" lIns="0" tIns="0" rIns="0" bIns="0" rtlCol="0" anchor="ctr"/>
          <a:lstStyle/>
          <a:p>
            <a:pPr indent="0" marL="0">
              <a:buNone/>
            </a:pPr>
            <a:r>
              <a:rPr lang="en-US" sz="1000" i="1" dirty="0">
                <a:solidFill>
                  <a:srgbClr val="6B6B80"/>
                </a:solidFill>
                <a:latin typeface="Consolas" pitchFamily="34" charset="0"/>
                <a:ea typeface="Consolas" pitchFamily="34" charset="-122"/>
                <a:cs typeface="Consolas" pitchFamily="34" charset="-120"/>
              </a:rPr>
              <a:t>"Give me a kick pattern"</a:t>
            </a:r>
            <a:endParaRPr lang="en-US" sz="1000" dirty="0"/>
          </a:p>
        </p:txBody>
      </p:sp>
      <p:sp>
        <p:nvSpPr>
          <p:cNvPr id="22" name="Text 20"/>
          <p:cNvSpPr/>
          <p:nvPr/>
        </p:nvSpPr>
        <p:spPr>
          <a:xfrm>
            <a:off x="960120" y="4069080"/>
            <a:ext cx="7315200" cy="548640"/>
          </a:xfrm>
          <a:prstGeom prst="rect">
            <a:avLst/>
          </a:prstGeom>
          <a:noFill/>
          <a:ln/>
        </p:spPr>
        <p:txBody>
          <a:bodyPr wrap="square" lIns="0" tIns="0" rIns="0" bIns="0" rtlCol="0" anchor="ctr"/>
          <a:lstStyle/>
          <a:p>
            <a:pPr indent="0" marL="0">
              <a:lnSpc>
                <a:spcPct val="140000"/>
              </a:lnSpc>
              <a:buNone/>
            </a:pPr>
            <a:r>
              <a:rPr lang="en-US" sz="1050" dirty="0">
                <a:solidFill>
                  <a:srgbClr val="B0B0C0"/>
                </a:solidFill>
                <a:latin typeface="Arial" pitchFamily="34" charset="0"/>
                <a:ea typeface="Arial" pitchFamily="34" charset="-122"/>
                <a:cs typeface="Arial" pitchFamily="34" charset="-120"/>
              </a:rPr>
              <a:t>4-bar kick. A kick on every beat ("four-on-the-floor") — the foundation of house music. Ghost kicks at .3 positions add groove. Kicks removed on beats 2 and 4 to avoid clashing with claps. Drag this onto your Drum Rack's C1 pad.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7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What's Built Today</a:t>
            </a:r>
            <a:endParaRPr lang="en-US" sz="3600" dirty="0"/>
          </a:p>
        </p:txBody>
      </p:sp>
      <p:sp>
        <p:nvSpPr>
          <p:cNvPr id="7" name="Text 5"/>
          <p:cNvSpPr/>
          <p:nvPr/>
        </p:nvSpPr>
        <p:spPr>
          <a:xfrm>
            <a:off x="640080" y="868680"/>
            <a:ext cx="7315200" cy="320040"/>
          </a:xfrm>
          <a:prstGeom prst="rect">
            <a:avLst/>
          </a:prstGeom>
          <a:noFill/>
          <a:ln/>
        </p:spPr>
        <p:txBody>
          <a:bodyPr wrap="square" lIns="0" tIns="0" rIns="0" bIns="0" rtlCol="0" anchor="ctr"/>
          <a:lstStyle/>
          <a:p>
            <a:pPr indent="0" marL="0">
              <a:buNone/>
            </a:pPr>
            <a:r>
              <a:rPr lang="en-US" sz="1300" i="1" dirty="0">
                <a:solidFill>
                  <a:srgbClr val="E8A230"/>
                </a:solidFill>
                <a:latin typeface="Arial" pitchFamily="34" charset="0"/>
                <a:ea typeface="Arial" pitchFamily="34" charset="-122"/>
                <a:cs typeface="Arial" pitchFamily="34" charset="-120"/>
              </a:rPr>
              <a:t>Working product. Not a concept.</a:t>
            </a:r>
            <a:endParaRPr lang="en-US" sz="1300" dirty="0"/>
          </a:p>
        </p:txBody>
      </p:sp>
      <p:pic>
        <p:nvPicPr>
          <p:cNvPr id="8" name="Image 0" descr="preencoded.png">    </p:cNvPr>
          <p:cNvPicPr>
            <a:picLocks noChangeAspect="1"/>
          </p:cNvPicPr>
          <p:nvPr/>
        </p:nvPicPr>
        <p:blipFill>
          <a:blip r:embed="rId1"/>
          <a:stretch>
            <a:fillRect/>
          </a:stretch>
        </p:blipFill>
        <p:spPr>
          <a:xfrm>
            <a:off x="640080" y="1417320"/>
            <a:ext cx="228600" cy="228600"/>
          </a:xfrm>
          <a:prstGeom prst="rect">
            <a:avLst/>
          </a:prstGeom>
        </p:spPr>
      </p:pic>
      <p:sp>
        <p:nvSpPr>
          <p:cNvPr id="9" name="Text 6"/>
          <p:cNvSpPr/>
          <p:nvPr/>
        </p:nvSpPr>
        <p:spPr>
          <a:xfrm>
            <a:off x="1005840" y="137160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AI chat with genre-aware knowledge routing (6 knowledge bases, 200KB+)</a:t>
            </a:r>
            <a:endParaRPr lang="en-US" sz="1100" dirty="0"/>
          </a:p>
        </p:txBody>
      </p:sp>
      <p:pic>
        <p:nvPicPr>
          <p:cNvPr id="10" name="Image 1" descr="preencoded.png">    </p:cNvPr>
          <p:cNvPicPr>
            <a:picLocks noChangeAspect="1"/>
          </p:cNvPicPr>
          <p:nvPr/>
        </p:nvPicPr>
        <p:blipFill>
          <a:blip r:embed="rId2"/>
          <a:stretch>
            <a:fillRect/>
          </a:stretch>
        </p:blipFill>
        <p:spPr>
          <a:xfrm>
            <a:off x="640080" y="2057400"/>
            <a:ext cx="228600" cy="228600"/>
          </a:xfrm>
          <a:prstGeom prst="rect">
            <a:avLst/>
          </a:prstGeom>
        </p:spPr>
      </p:pic>
      <p:sp>
        <p:nvSpPr>
          <p:cNvPr id="11" name="Text 7"/>
          <p:cNvSpPr/>
          <p:nvPr/>
        </p:nvSpPr>
        <p:spPr>
          <a:xfrm>
            <a:off x="1005840" y="201168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Kanban track builder — 25+ elements across Drums, Bass, Melodic, Vocals, FX</a:t>
            </a:r>
            <a:endParaRPr lang="en-US" sz="1100" dirty="0"/>
          </a:p>
        </p:txBody>
      </p:sp>
      <p:pic>
        <p:nvPicPr>
          <p:cNvPr id="12" name="Image 2" descr="preencoded.png">    </p:cNvPr>
          <p:cNvPicPr>
            <a:picLocks noChangeAspect="1"/>
          </p:cNvPicPr>
          <p:nvPr/>
        </p:nvPicPr>
        <p:blipFill>
          <a:blip r:embed="rId3"/>
          <a:stretch>
            <a:fillRect/>
          </a:stretch>
        </p:blipFill>
        <p:spPr>
          <a:xfrm>
            <a:off x="640080" y="2697480"/>
            <a:ext cx="228600" cy="228600"/>
          </a:xfrm>
          <a:prstGeom prst="rect">
            <a:avLst/>
          </a:prstGeom>
        </p:spPr>
      </p:pic>
      <p:sp>
        <p:nvSpPr>
          <p:cNvPr id="13" name="Text 8"/>
          <p:cNvSpPr/>
          <p:nvPr/>
        </p:nvSpPr>
        <p:spPr>
          <a:xfrm>
            <a:off x="1005840" y="265176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MIDI file generation with piano roll preview and velocity coloring</a:t>
            </a:r>
            <a:endParaRPr lang="en-US" sz="1100" dirty="0"/>
          </a:p>
        </p:txBody>
      </p:sp>
      <p:pic>
        <p:nvPicPr>
          <p:cNvPr id="14" name="Image 3" descr="preencoded.png">    </p:cNvPr>
          <p:cNvPicPr>
            <a:picLocks noChangeAspect="1"/>
          </p:cNvPicPr>
          <p:nvPr/>
        </p:nvPicPr>
        <p:blipFill>
          <a:blip r:embed="rId4"/>
          <a:stretch>
            <a:fillRect/>
          </a:stretch>
        </p:blipFill>
        <p:spPr>
          <a:xfrm>
            <a:off x="640080" y="3337560"/>
            <a:ext cx="228600" cy="228600"/>
          </a:xfrm>
          <a:prstGeom prst="rect">
            <a:avLst/>
          </a:prstGeom>
        </p:spPr>
      </p:pic>
      <p:sp>
        <p:nvSpPr>
          <p:cNvPr id="15" name="Text 9"/>
          <p:cNvSpPr/>
          <p:nvPr/>
        </p:nvSpPr>
        <p:spPr>
          <a:xfrm>
            <a:off x="1005840" y="329184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Kim Vocal 2 AI vocal isolation — studio quality, built in</a:t>
            </a:r>
            <a:endParaRPr lang="en-US" sz="1100" dirty="0"/>
          </a:p>
        </p:txBody>
      </p:sp>
      <p:pic>
        <p:nvPicPr>
          <p:cNvPr id="16" name="Image 4" descr="preencoded.png">    </p:cNvPr>
          <p:cNvPicPr>
            <a:picLocks noChangeAspect="1"/>
          </p:cNvPicPr>
          <p:nvPr/>
        </p:nvPicPr>
        <p:blipFill>
          <a:blip r:embed="rId5"/>
          <a:stretch>
            <a:fillRect/>
          </a:stretch>
        </p:blipFill>
        <p:spPr>
          <a:xfrm>
            <a:off x="640080" y="3977640"/>
            <a:ext cx="228600" cy="228600"/>
          </a:xfrm>
          <a:prstGeom prst="rect">
            <a:avLst/>
          </a:prstGeom>
        </p:spPr>
      </p:pic>
      <p:sp>
        <p:nvSpPr>
          <p:cNvPr id="17" name="Text 10"/>
          <p:cNvSpPr/>
          <p:nvPr/>
        </p:nvSpPr>
        <p:spPr>
          <a:xfrm>
            <a:off x="1005840" y="393192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Adaptive skill levels — Expert, Intermediate, Novice</a:t>
            </a:r>
            <a:endParaRPr lang="en-US" sz="1100" dirty="0"/>
          </a:p>
        </p:txBody>
      </p:sp>
      <p:pic>
        <p:nvPicPr>
          <p:cNvPr id="18" name="Image 5" descr="preencoded.png">    </p:cNvPr>
          <p:cNvPicPr>
            <a:picLocks noChangeAspect="1"/>
          </p:cNvPicPr>
          <p:nvPr/>
        </p:nvPicPr>
        <p:blipFill>
          <a:blip r:embed="rId6"/>
          <a:stretch>
            <a:fillRect/>
          </a:stretch>
        </p:blipFill>
        <p:spPr>
          <a:xfrm>
            <a:off x="4754880" y="1417320"/>
            <a:ext cx="228600" cy="228600"/>
          </a:xfrm>
          <a:prstGeom prst="rect">
            <a:avLst/>
          </a:prstGeom>
        </p:spPr>
      </p:pic>
      <p:sp>
        <p:nvSpPr>
          <p:cNvPr id="19" name="Text 11"/>
          <p:cNvSpPr/>
          <p:nvPr/>
        </p:nvSpPr>
        <p:spPr>
          <a:xfrm>
            <a:off x="5120640" y="137160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4 genre presets — Tech House, UK Bass, Minimal Techno, Bassline</a:t>
            </a:r>
            <a:endParaRPr lang="en-US" sz="1100" dirty="0"/>
          </a:p>
        </p:txBody>
      </p:sp>
      <p:pic>
        <p:nvPicPr>
          <p:cNvPr id="20" name="Image 6" descr="preencoded.png">    </p:cNvPr>
          <p:cNvPicPr>
            <a:picLocks noChangeAspect="1"/>
          </p:cNvPicPr>
          <p:nvPr/>
        </p:nvPicPr>
        <p:blipFill>
          <a:blip r:embed="rId7"/>
          <a:stretch>
            <a:fillRect/>
          </a:stretch>
        </p:blipFill>
        <p:spPr>
          <a:xfrm>
            <a:off x="4754880" y="2057400"/>
            <a:ext cx="228600" cy="228600"/>
          </a:xfrm>
          <a:prstGeom prst="rect">
            <a:avLst/>
          </a:prstGeom>
        </p:spPr>
      </p:pic>
      <p:sp>
        <p:nvSpPr>
          <p:cNvPr id="21" name="Text 12"/>
          <p:cNvSpPr/>
          <p:nvPr/>
        </p:nvSpPr>
        <p:spPr>
          <a:xfrm>
            <a:off x="5120640" y="201168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Element status tracking with cross-element awareness</a:t>
            </a:r>
            <a:endParaRPr lang="en-US" sz="1100" dirty="0"/>
          </a:p>
        </p:txBody>
      </p:sp>
      <p:pic>
        <p:nvPicPr>
          <p:cNvPr id="22" name="Image 7" descr="preencoded.png">    </p:cNvPr>
          <p:cNvPicPr>
            <a:picLocks noChangeAspect="1"/>
          </p:cNvPicPr>
          <p:nvPr/>
        </p:nvPicPr>
        <p:blipFill>
          <a:blip r:embed="rId8"/>
          <a:stretch>
            <a:fillRect/>
          </a:stretch>
        </p:blipFill>
        <p:spPr>
          <a:xfrm>
            <a:off x="4754880" y="2697480"/>
            <a:ext cx="228600" cy="228600"/>
          </a:xfrm>
          <a:prstGeom prst="rect">
            <a:avLst/>
          </a:prstGeom>
        </p:spPr>
      </p:pic>
      <p:sp>
        <p:nvSpPr>
          <p:cNvPr id="23" name="Text 13"/>
          <p:cNvSpPr/>
          <p:nvPr/>
        </p:nvSpPr>
        <p:spPr>
          <a:xfrm>
            <a:off x="5120640" y="265176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Session state management with persistence across reloads</a:t>
            </a:r>
            <a:endParaRPr lang="en-US" sz="1100" dirty="0"/>
          </a:p>
        </p:txBody>
      </p:sp>
      <p:pic>
        <p:nvPicPr>
          <p:cNvPr id="24" name="Image 8" descr="preencoded.png">    </p:cNvPr>
          <p:cNvPicPr>
            <a:picLocks noChangeAspect="1"/>
          </p:cNvPicPr>
          <p:nvPr/>
        </p:nvPicPr>
        <p:blipFill>
          <a:blip r:embed="rId9"/>
          <a:stretch>
            <a:fillRect/>
          </a:stretch>
        </p:blipFill>
        <p:spPr>
          <a:xfrm>
            <a:off x="4754880" y="3337560"/>
            <a:ext cx="228600" cy="228600"/>
          </a:xfrm>
          <a:prstGeom prst="rect">
            <a:avLst/>
          </a:prstGeom>
        </p:spPr>
      </p:pic>
      <p:sp>
        <p:nvSpPr>
          <p:cNvPr id="25" name="Text 14"/>
          <p:cNvSpPr/>
          <p:nvPr/>
        </p:nvSpPr>
        <p:spPr>
          <a:xfrm>
            <a:off x="5120640" y="329184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Electron desktop application — native macOS app</a:t>
            </a:r>
            <a:endParaRPr lang="en-US" sz="1100" dirty="0"/>
          </a:p>
        </p:txBody>
      </p:sp>
      <p:pic>
        <p:nvPicPr>
          <p:cNvPr id="26" name="Image 9" descr="preencoded.png">    </p:cNvPr>
          <p:cNvPicPr>
            <a:picLocks noChangeAspect="1"/>
          </p:cNvPicPr>
          <p:nvPr/>
        </p:nvPicPr>
        <p:blipFill>
          <a:blip r:embed="rId10"/>
          <a:stretch>
            <a:fillRect/>
          </a:stretch>
        </p:blipFill>
        <p:spPr>
          <a:xfrm>
            <a:off x="4754880" y="3977640"/>
            <a:ext cx="228600" cy="228600"/>
          </a:xfrm>
          <a:prstGeom prst="rect">
            <a:avLst/>
          </a:prstGeom>
        </p:spPr>
      </p:pic>
      <p:sp>
        <p:nvSpPr>
          <p:cNvPr id="27" name="Text 15"/>
          <p:cNvSpPr/>
          <p:nvPr/>
        </p:nvSpPr>
        <p:spPr>
          <a:xfrm>
            <a:off x="5120640" y="3931920"/>
            <a:ext cx="3566160" cy="548640"/>
          </a:xfrm>
          <a:prstGeom prst="rect">
            <a:avLst/>
          </a:prstGeom>
          <a:noFill/>
          <a:ln/>
        </p:spPr>
        <p:txBody>
          <a:bodyPr wrap="square" lIns="0" tIns="0" rIns="0" bIns="0" rtlCol="0" anchor="ctr"/>
          <a:lstStyle/>
          <a:p>
            <a:pPr indent="0" marL="0">
              <a:lnSpc>
                <a:spcPct val="120000"/>
              </a:lnSpc>
              <a:buNone/>
            </a:pPr>
            <a:r>
              <a:rPr lang="en-US" sz="1100" dirty="0">
                <a:solidFill>
                  <a:srgbClr val="B0B0C0"/>
                </a:solidFill>
                <a:latin typeface="Arial" pitchFamily="34" charset="0"/>
                <a:ea typeface="Arial" pitchFamily="34" charset="-122"/>
                <a:cs typeface="Arial" pitchFamily="34" charset="-120"/>
              </a:rPr>
              <a:t>Per-element chat history and session persistence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8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The Knowledge Engine</a:t>
            </a:r>
            <a:endParaRPr lang="en-US" sz="3600" dirty="0"/>
          </a:p>
        </p:txBody>
      </p:sp>
      <p:sp>
        <p:nvSpPr>
          <p:cNvPr id="7" name="Text 5"/>
          <p:cNvSpPr/>
          <p:nvPr/>
        </p:nvSpPr>
        <p:spPr>
          <a:xfrm>
            <a:off x="640080" y="914400"/>
            <a:ext cx="7863840" cy="32004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This is the moat. Not a generic chatbot — a curated production brain with opinionated, specific expertise.</a:t>
            </a:r>
            <a:endParaRPr lang="en-US" sz="1300" dirty="0"/>
          </a:p>
        </p:txBody>
      </p:sp>
      <p:sp>
        <p:nvSpPr>
          <p:cNvPr id="8" name="Shape 6"/>
          <p:cNvSpPr/>
          <p:nvPr/>
        </p:nvSpPr>
        <p:spPr>
          <a:xfrm>
            <a:off x="640080" y="141732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9" name="Shape 7"/>
          <p:cNvSpPr/>
          <p:nvPr/>
        </p:nvSpPr>
        <p:spPr>
          <a:xfrm>
            <a:off x="640080" y="1417320"/>
            <a:ext cx="54864" cy="914400"/>
          </a:xfrm>
          <a:prstGeom prst="rectangle">
            <a:avLst/>
          </a:prstGeom>
          <a:solidFill>
            <a:srgbClr val="E8A230"/>
          </a:solidFill>
          <a:ln/>
        </p:spPr>
      </p:sp>
      <p:sp>
        <p:nvSpPr>
          <p:cNvPr id="10" name="Text 8"/>
          <p:cNvSpPr/>
          <p:nvPr/>
        </p:nvSpPr>
        <p:spPr>
          <a:xfrm>
            <a:off x="868680" y="1508760"/>
            <a:ext cx="2743200" cy="274320"/>
          </a:xfrm>
          <a:prstGeom prst="rect">
            <a:avLst/>
          </a:prstGeom>
          <a:noFill/>
          <a:ln/>
        </p:spPr>
        <p:txBody>
          <a:bodyPr wrap="square" lIns="0" tIns="0" rIns="0" bIns="0" rtlCol="0" anchor="ctr"/>
          <a:lstStyle/>
          <a:p>
            <a:pPr indent="0" marL="0">
              <a:buNone/>
            </a:pPr>
            <a:r>
              <a:rPr lang="en-US" sz="1300" b="1" dirty="0">
                <a:solidFill>
                  <a:srgbClr val="E8A230"/>
                </a:solidFill>
                <a:latin typeface="Arial" pitchFamily="34" charset="0"/>
                <a:ea typeface="Arial" pitchFamily="34" charset="-122"/>
                <a:cs typeface="Arial" pitchFamily="34" charset="-120"/>
              </a:rPr>
              <a:t>Tech House Production</a:t>
            </a:r>
            <a:endParaRPr lang="en-US" sz="1300" dirty="0"/>
          </a:p>
        </p:txBody>
      </p:sp>
      <p:sp>
        <p:nvSpPr>
          <p:cNvPr id="11" name="Text 9"/>
          <p:cNvSpPr/>
          <p:nvPr/>
        </p:nvSpPr>
        <p:spPr>
          <a:xfrm>
            <a:off x="3657600" y="150876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23 KB</a:t>
            </a:r>
            <a:endParaRPr lang="en-US" sz="1000" dirty="0"/>
          </a:p>
        </p:txBody>
      </p:sp>
      <p:sp>
        <p:nvSpPr>
          <p:cNvPr id="12" name="Text 10"/>
          <p:cNvSpPr/>
          <p:nvPr/>
        </p:nvSpPr>
        <p:spPr>
          <a:xfrm>
            <a:off x="868680" y="182880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Genre identity, drums, bass, synths, arrangement, mixing</a:t>
            </a:r>
            <a:endParaRPr lang="en-US" sz="1000" dirty="0"/>
          </a:p>
        </p:txBody>
      </p:sp>
      <p:sp>
        <p:nvSpPr>
          <p:cNvPr id="13" name="Shape 11"/>
          <p:cNvSpPr/>
          <p:nvPr/>
        </p:nvSpPr>
        <p:spPr>
          <a:xfrm>
            <a:off x="4754880" y="141732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4" name="Shape 12"/>
          <p:cNvSpPr/>
          <p:nvPr/>
        </p:nvSpPr>
        <p:spPr>
          <a:xfrm>
            <a:off x="4754880" y="1417320"/>
            <a:ext cx="54864" cy="914400"/>
          </a:xfrm>
          <a:prstGeom prst="rectangle">
            <a:avLst/>
          </a:prstGeom>
          <a:solidFill>
            <a:srgbClr val="38BDF8"/>
          </a:solidFill>
          <a:ln/>
        </p:spPr>
      </p:sp>
      <p:sp>
        <p:nvSpPr>
          <p:cNvPr id="15" name="Text 13"/>
          <p:cNvSpPr/>
          <p:nvPr/>
        </p:nvSpPr>
        <p:spPr>
          <a:xfrm>
            <a:off x="4983480" y="1508760"/>
            <a:ext cx="274320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Ableton Workflows</a:t>
            </a:r>
            <a:endParaRPr lang="en-US" sz="1300" dirty="0"/>
          </a:p>
        </p:txBody>
      </p:sp>
      <p:sp>
        <p:nvSpPr>
          <p:cNvPr id="16" name="Text 14"/>
          <p:cNvSpPr/>
          <p:nvPr/>
        </p:nvSpPr>
        <p:spPr>
          <a:xfrm>
            <a:off x="7772400" y="150876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46 KB</a:t>
            </a:r>
            <a:endParaRPr lang="en-US" sz="1000" dirty="0"/>
          </a:p>
        </p:txBody>
      </p:sp>
      <p:sp>
        <p:nvSpPr>
          <p:cNvPr id="17" name="Text 15"/>
          <p:cNvSpPr/>
          <p:nvPr/>
        </p:nvSpPr>
        <p:spPr>
          <a:xfrm>
            <a:off x="4983480" y="182880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Shortcuts, routing, MIDI editing, CPU optimization, Live 12</a:t>
            </a:r>
            <a:endParaRPr lang="en-US" sz="1000" dirty="0"/>
          </a:p>
        </p:txBody>
      </p:sp>
      <p:sp>
        <p:nvSpPr>
          <p:cNvPr id="18" name="Shape 16"/>
          <p:cNvSpPr/>
          <p:nvPr/>
        </p:nvSpPr>
        <p:spPr>
          <a:xfrm>
            <a:off x="640080" y="251460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9" name="Shape 17"/>
          <p:cNvSpPr/>
          <p:nvPr/>
        </p:nvSpPr>
        <p:spPr>
          <a:xfrm>
            <a:off x="640080" y="2514600"/>
            <a:ext cx="54864" cy="914400"/>
          </a:xfrm>
          <a:prstGeom prst="rectangle">
            <a:avLst/>
          </a:prstGeom>
          <a:solidFill>
            <a:srgbClr val="A78BFA"/>
          </a:solidFill>
          <a:ln/>
        </p:spPr>
      </p:sp>
      <p:sp>
        <p:nvSpPr>
          <p:cNvPr id="20" name="Text 18"/>
          <p:cNvSpPr/>
          <p:nvPr/>
        </p:nvSpPr>
        <p:spPr>
          <a:xfrm>
            <a:off x="868680" y="2606040"/>
            <a:ext cx="2743200" cy="274320"/>
          </a:xfrm>
          <a:prstGeom prst="rect">
            <a:avLst/>
          </a:prstGeom>
          <a:noFill/>
          <a:ln/>
        </p:spPr>
        <p:txBody>
          <a:bodyPr wrap="square" lIns="0" tIns="0" rIns="0" bIns="0" rtlCol="0" anchor="ctr"/>
          <a:lstStyle/>
          <a:p>
            <a:pPr indent="0" marL="0">
              <a:buNone/>
            </a:pPr>
            <a:r>
              <a:rPr lang="en-US" sz="1300" b="1" dirty="0">
                <a:solidFill>
                  <a:srgbClr val="A78BFA"/>
                </a:solidFill>
                <a:latin typeface="Arial" pitchFamily="34" charset="0"/>
                <a:ea typeface="Arial" pitchFamily="34" charset="-122"/>
                <a:cs typeface="Arial" pitchFamily="34" charset="-120"/>
              </a:rPr>
              <a:t>Sampling &amp; Remixing</a:t>
            </a:r>
            <a:endParaRPr lang="en-US" sz="1300" dirty="0"/>
          </a:p>
        </p:txBody>
      </p:sp>
      <p:sp>
        <p:nvSpPr>
          <p:cNvPr id="21" name="Text 19"/>
          <p:cNvSpPr/>
          <p:nvPr/>
        </p:nvSpPr>
        <p:spPr>
          <a:xfrm>
            <a:off x="3657600" y="260604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37 KB</a:t>
            </a:r>
            <a:endParaRPr lang="en-US" sz="1000" dirty="0"/>
          </a:p>
        </p:txBody>
      </p:sp>
      <p:sp>
        <p:nvSpPr>
          <p:cNvPr id="22" name="Text 20"/>
          <p:cNvSpPr/>
          <p:nvPr/>
        </p:nvSpPr>
        <p:spPr>
          <a:xfrm>
            <a:off x="868680" y="292608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Stem separation, chopping, processing, remix workflows</a:t>
            </a:r>
            <a:endParaRPr lang="en-US" sz="1000" dirty="0"/>
          </a:p>
        </p:txBody>
      </p:sp>
      <p:sp>
        <p:nvSpPr>
          <p:cNvPr id="23" name="Shape 21"/>
          <p:cNvSpPr/>
          <p:nvPr/>
        </p:nvSpPr>
        <p:spPr>
          <a:xfrm>
            <a:off x="4754880" y="251460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4" name="Shape 22"/>
          <p:cNvSpPr/>
          <p:nvPr/>
        </p:nvSpPr>
        <p:spPr>
          <a:xfrm>
            <a:off x="4754880" y="2514600"/>
            <a:ext cx="54864" cy="914400"/>
          </a:xfrm>
          <a:prstGeom prst="rectangle">
            <a:avLst/>
          </a:prstGeom>
          <a:solidFill>
            <a:srgbClr val="4ADE80"/>
          </a:solidFill>
          <a:ln/>
        </p:spPr>
      </p:sp>
      <p:sp>
        <p:nvSpPr>
          <p:cNvPr id="25" name="Text 23"/>
          <p:cNvSpPr/>
          <p:nvPr/>
        </p:nvSpPr>
        <p:spPr>
          <a:xfrm>
            <a:off x="4983480" y="2606040"/>
            <a:ext cx="2743200" cy="274320"/>
          </a:xfrm>
          <a:prstGeom prst="rect">
            <a:avLst/>
          </a:prstGeom>
          <a:noFill/>
          <a:ln/>
        </p:spPr>
        <p:txBody>
          <a:bodyPr wrap="square" lIns="0" tIns="0" rIns="0" bIns="0" rtlCol="0" anchor="ctr"/>
          <a:lstStyle/>
          <a:p>
            <a:pPr indent="0" marL="0">
              <a:buNone/>
            </a:pPr>
            <a:r>
              <a:rPr lang="en-US" sz="1300" b="1" dirty="0">
                <a:solidFill>
                  <a:srgbClr val="4ADE80"/>
                </a:solidFill>
                <a:latin typeface="Arial" pitchFamily="34" charset="0"/>
                <a:ea typeface="Arial" pitchFamily="34" charset="-122"/>
                <a:cs typeface="Arial" pitchFamily="34" charset="-120"/>
              </a:rPr>
              <a:t>Sound Design</a:t>
            </a:r>
            <a:endParaRPr lang="en-US" sz="1300" dirty="0"/>
          </a:p>
        </p:txBody>
      </p:sp>
      <p:sp>
        <p:nvSpPr>
          <p:cNvPr id="26" name="Text 24"/>
          <p:cNvSpPr/>
          <p:nvPr/>
        </p:nvSpPr>
        <p:spPr>
          <a:xfrm>
            <a:off x="7772400" y="260604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36 KB</a:t>
            </a:r>
            <a:endParaRPr lang="en-US" sz="1000" dirty="0"/>
          </a:p>
        </p:txBody>
      </p:sp>
      <p:sp>
        <p:nvSpPr>
          <p:cNvPr id="27" name="Text 25"/>
          <p:cNvSpPr/>
          <p:nvPr/>
        </p:nvSpPr>
        <p:spPr>
          <a:xfrm>
            <a:off x="4983480" y="292608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Serum 2 deep dive, synthesis fundamentals, FX design</a:t>
            </a:r>
            <a:endParaRPr lang="en-US" sz="1000" dirty="0"/>
          </a:p>
        </p:txBody>
      </p:sp>
      <p:sp>
        <p:nvSpPr>
          <p:cNvPr id="28" name="Shape 26"/>
          <p:cNvSpPr/>
          <p:nvPr/>
        </p:nvSpPr>
        <p:spPr>
          <a:xfrm>
            <a:off x="640080" y="361188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9" name="Shape 27"/>
          <p:cNvSpPr/>
          <p:nvPr/>
        </p:nvSpPr>
        <p:spPr>
          <a:xfrm>
            <a:off x="640080" y="3611880"/>
            <a:ext cx="54864" cy="914400"/>
          </a:xfrm>
          <a:prstGeom prst="rectangle">
            <a:avLst/>
          </a:prstGeom>
          <a:solidFill>
            <a:srgbClr val="F87171"/>
          </a:solidFill>
          <a:ln/>
        </p:spPr>
      </p:sp>
      <p:sp>
        <p:nvSpPr>
          <p:cNvPr id="30" name="Text 28"/>
          <p:cNvSpPr/>
          <p:nvPr/>
        </p:nvSpPr>
        <p:spPr>
          <a:xfrm>
            <a:off x="868680" y="3703320"/>
            <a:ext cx="2743200" cy="274320"/>
          </a:xfrm>
          <a:prstGeom prst="rect">
            <a:avLst/>
          </a:prstGeom>
          <a:noFill/>
          <a:ln/>
        </p:spPr>
        <p:txBody>
          <a:bodyPr wrap="square" lIns="0" tIns="0" rIns="0" bIns="0" rtlCol="0" anchor="ctr"/>
          <a:lstStyle/>
          <a:p>
            <a:pPr indent="0" marL="0">
              <a:buNone/>
            </a:pPr>
            <a:r>
              <a:rPr lang="en-US" sz="1300" b="1" dirty="0">
                <a:solidFill>
                  <a:srgbClr val="F87171"/>
                </a:solidFill>
                <a:latin typeface="Arial" pitchFamily="34" charset="0"/>
                <a:ea typeface="Arial" pitchFamily="34" charset="-122"/>
                <a:cs typeface="Arial" pitchFamily="34" charset="-120"/>
              </a:rPr>
              <a:t>Music Theory</a:t>
            </a:r>
            <a:endParaRPr lang="en-US" sz="1300" dirty="0"/>
          </a:p>
        </p:txBody>
      </p:sp>
      <p:sp>
        <p:nvSpPr>
          <p:cNvPr id="31" name="Text 29"/>
          <p:cNvSpPr/>
          <p:nvPr/>
        </p:nvSpPr>
        <p:spPr>
          <a:xfrm>
            <a:off x="3657600" y="370332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31 KB</a:t>
            </a:r>
            <a:endParaRPr lang="en-US" sz="1000" dirty="0"/>
          </a:p>
        </p:txBody>
      </p:sp>
      <p:sp>
        <p:nvSpPr>
          <p:cNvPr id="32" name="Text 30"/>
          <p:cNvSpPr/>
          <p:nvPr/>
        </p:nvSpPr>
        <p:spPr>
          <a:xfrm>
            <a:off x="868680" y="402336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Scales, chords, bass theory, rhythm, tension/resolution</a:t>
            </a:r>
            <a:endParaRPr lang="en-US" sz="1000" dirty="0"/>
          </a:p>
        </p:txBody>
      </p:sp>
      <p:sp>
        <p:nvSpPr>
          <p:cNvPr id="33" name="Shape 31"/>
          <p:cNvSpPr/>
          <p:nvPr/>
        </p:nvSpPr>
        <p:spPr>
          <a:xfrm>
            <a:off x="4754880" y="3611880"/>
            <a:ext cx="374904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34" name="Shape 32"/>
          <p:cNvSpPr/>
          <p:nvPr/>
        </p:nvSpPr>
        <p:spPr>
          <a:xfrm>
            <a:off x="4754880" y="3611880"/>
            <a:ext cx="54864" cy="914400"/>
          </a:xfrm>
          <a:prstGeom prst="rectangle">
            <a:avLst/>
          </a:prstGeom>
          <a:solidFill>
            <a:srgbClr val="E8A230"/>
          </a:solidFill>
          <a:ln/>
        </p:spPr>
      </p:sp>
      <p:sp>
        <p:nvSpPr>
          <p:cNvPr id="35" name="Text 33"/>
          <p:cNvSpPr/>
          <p:nvPr/>
        </p:nvSpPr>
        <p:spPr>
          <a:xfrm>
            <a:off x="4983480" y="3703320"/>
            <a:ext cx="2743200" cy="274320"/>
          </a:xfrm>
          <a:prstGeom prst="rect">
            <a:avLst/>
          </a:prstGeom>
          <a:noFill/>
          <a:ln/>
        </p:spPr>
        <p:txBody>
          <a:bodyPr wrap="square" lIns="0" tIns="0" rIns="0" bIns="0" rtlCol="0" anchor="ctr"/>
          <a:lstStyle/>
          <a:p>
            <a:pPr indent="0" marL="0">
              <a:buNone/>
            </a:pPr>
            <a:r>
              <a:rPr lang="en-US" sz="1300" b="1" dirty="0">
                <a:solidFill>
                  <a:srgbClr val="E8A230"/>
                </a:solidFill>
                <a:latin typeface="Arial" pitchFamily="34" charset="0"/>
                <a:ea typeface="Arial" pitchFamily="34" charset="-122"/>
                <a:cs typeface="Arial" pitchFamily="34" charset="-120"/>
              </a:rPr>
              <a:t>Sample Sourcing</a:t>
            </a:r>
            <a:endParaRPr lang="en-US" sz="1300" dirty="0"/>
          </a:p>
        </p:txBody>
      </p:sp>
      <p:sp>
        <p:nvSpPr>
          <p:cNvPr id="36" name="Text 34"/>
          <p:cNvSpPr/>
          <p:nvPr/>
        </p:nvSpPr>
        <p:spPr>
          <a:xfrm>
            <a:off x="7772400" y="3703320"/>
            <a:ext cx="640080" cy="274320"/>
          </a:xfrm>
          <a:prstGeom prst="rect">
            <a:avLst/>
          </a:prstGeom>
          <a:noFill/>
          <a:ln/>
        </p:spPr>
        <p:txBody>
          <a:bodyPr wrap="square" lIns="0" tIns="0" rIns="0" bIns="0" rtlCol="0" anchor="ctr"/>
          <a:lstStyle/>
          <a:p>
            <a:pPr algn="r" indent="0" marL="0">
              <a:buNone/>
            </a:pPr>
            <a:r>
              <a:rPr lang="en-US" sz="1000" dirty="0">
                <a:solidFill>
                  <a:srgbClr val="6B6B80"/>
                </a:solidFill>
                <a:latin typeface="Consolas" pitchFamily="34" charset="0"/>
                <a:ea typeface="Consolas" pitchFamily="34" charset="-122"/>
                <a:cs typeface="Consolas" pitchFamily="34" charset="-120"/>
              </a:rPr>
              <a:t>27 KB</a:t>
            </a:r>
            <a:endParaRPr lang="en-US" sz="1000" dirty="0"/>
          </a:p>
        </p:txBody>
      </p:sp>
      <p:sp>
        <p:nvSpPr>
          <p:cNvPr id="37" name="Text 35"/>
          <p:cNvSpPr/>
          <p:nvPr/>
        </p:nvSpPr>
        <p:spPr>
          <a:xfrm>
            <a:off x="4983480" y="4023360"/>
            <a:ext cx="329184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Splice strategy, formats, library organization, backup</a:t>
            </a:r>
            <a:endParaRPr lang="en-US" sz="1000" dirty="0"/>
          </a:p>
        </p:txBody>
      </p:sp>
      <p:sp>
        <p:nvSpPr>
          <p:cNvPr id="38" name="Text 36"/>
          <p:cNvSpPr/>
          <p:nvPr/>
        </p:nvSpPr>
        <p:spPr>
          <a:xfrm>
            <a:off x="640080" y="4343400"/>
            <a:ext cx="7863840" cy="274320"/>
          </a:xfrm>
          <a:prstGeom prst="rect">
            <a:avLst/>
          </a:prstGeom>
          <a:noFill/>
          <a:ln/>
        </p:spPr>
        <p:txBody>
          <a:bodyPr wrap="square" lIns="0" tIns="0" rIns="0" bIns="0" rtlCol="0" anchor="ctr"/>
          <a:lstStyle/>
          <a:p>
            <a:pPr algn="ctr" indent="0" marL="0">
              <a:buNone/>
            </a:pPr>
            <a:r>
              <a:rPr lang="en-US" sz="1100" i="1" dirty="0">
                <a:solidFill>
                  <a:srgbClr val="6B6B80"/>
                </a:solidFill>
                <a:latin typeface="Arial" pitchFamily="34" charset="0"/>
                <a:ea typeface="Arial" pitchFamily="34" charset="-122"/>
                <a:cs typeface="Arial" pitchFamily="34" charset="-120"/>
              </a:rPr>
              <a:t>Smart routing loads only relevant knowledge per query — efficient, accurate, cost-effective.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9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Why We're Different</a:t>
            </a:r>
            <a:endParaRPr lang="en-US" sz="3600" dirty="0"/>
          </a:p>
        </p:txBody>
      </p:sp>
      <p:sp>
        <p:nvSpPr>
          <p:cNvPr id="7" name="Text 5"/>
          <p:cNvSpPr/>
          <p:nvPr/>
        </p:nvSpPr>
        <p:spPr>
          <a:xfrm>
            <a:off x="640080" y="1005840"/>
            <a:ext cx="2743200" cy="274320"/>
          </a:xfrm>
          <a:prstGeom prst="rect">
            <a:avLst/>
          </a:prstGeom>
          <a:noFill/>
          <a:ln/>
        </p:spPr>
        <p:txBody>
          <a:bodyPr wrap="square" lIns="0" tIns="0" rIns="0" bIns="0" rtlCol="0" anchor="ctr"/>
          <a:lstStyle/>
          <a:p>
            <a:pPr indent="0" marL="0">
              <a:buNone/>
            </a:pPr>
            <a:r>
              <a:rPr lang="en-US" sz="1100" spc="200" kern="0" dirty="0">
                <a:solidFill>
                  <a:srgbClr val="6B6B80"/>
                </a:solidFill>
                <a:latin typeface="Arial" pitchFamily="34" charset="0"/>
                <a:ea typeface="Arial" pitchFamily="34" charset="-122"/>
                <a:cs typeface="Arial" pitchFamily="34" charset="-120"/>
              </a:rPr>
              <a:t>THE LANDSCAPE</a:t>
            </a:r>
            <a:endParaRPr lang="en-US" sz="1100" dirty="0"/>
          </a:p>
        </p:txBody>
      </p:sp>
      <p:sp>
        <p:nvSpPr>
          <p:cNvPr id="8" name="Text 6"/>
          <p:cNvSpPr/>
          <p:nvPr/>
        </p:nvSpPr>
        <p:spPr>
          <a:xfrm>
            <a:off x="640080" y="1371600"/>
            <a:ext cx="2011680" cy="274320"/>
          </a:xfrm>
          <a:prstGeom prst="rect">
            <a:avLst/>
          </a:prstGeom>
          <a:noFill/>
          <a:ln/>
        </p:spPr>
        <p:txBody>
          <a:bodyPr wrap="square" lIns="0" tIns="0" rIns="0" bIns="0" rtlCol="0" anchor="ctr"/>
          <a:lstStyle/>
          <a:p>
            <a:pPr indent="0" marL="0">
              <a:buNone/>
            </a:pPr>
            <a:r>
              <a:rPr lang="en-US" sz="1200" b="1" dirty="0">
                <a:solidFill>
                  <a:srgbClr val="F87171"/>
                </a:solidFill>
                <a:latin typeface="Arial" pitchFamily="34" charset="0"/>
                <a:ea typeface="Arial" pitchFamily="34" charset="-122"/>
                <a:cs typeface="Arial" pitchFamily="34" charset="-120"/>
              </a:rPr>
              <a:t>Suno / Udio</a:t>
            </a:r>
            <a:endParaRPr lang="en-US" sz="1200" dirty="0"/>
          </a:p>
        </p:txBody>
      </p:sp>
      <p:sp>
        <p:nvSpPr>
          <p:cNvPr id="9" name="Text 7"/>
          <p:cNvSpPr/>
          <p:nvPr/>
        </p:nvSpPr>
        <p:spPr>
          <a:xfrm>
            <a:off x="2651760" y="1371600"/>
            <a:ext cx="5852160" cy="502920"/>
          </a:xfrm>
          <a:prstGeom prst="rect">
            <a:avLst/>
          </a:prstGeom>
          <a:noFill/>
          <a:ln/>
        </p:spPr>
        <p:txBody>
          <a:bodyPr wrap="square" lIns="0" tIns="0" rIns="0" bIns="0" rtlCol="0" anchor="ctr"/>
          <a:lstStyle/>
          <a:p>
            <a:pPr indent="0" marL="0">
              <a:lnSpc>
                <a:spcPct val="130000"/>
              </a:lnSpc>
              <a:buNone/>
            </a:pPr>
            <a:r>
              <a:rPr lang="en-US" sz="1000" dirty="0">
                <a:solidFill>
                  <a:srgbClr val="6B6B80"/>
                </a:solidFill>
                <a:latin typeface="Arial" pitchFamily="34" charset="0"/>
                <a:ea typeface="Arial" pitchFamily="34" charset="-122"/>
                <a:cs typeface="Arial" pitchFamily="34" charset="-120"/>
              </a:rPr>
              <a:t>Generate entire songs with AI. Replaces the musician — you type a prompt, get a finished track. No learning, no control, no craft.</a:t>
            </a:r>
            <a:endParaRPr lang="en-US" sz="1000" dirty="0"/>
          </a:p>
        </p:txBody>
      </p:sp>
      <p:sp>
        <p:nvSpPr>
          <p:cNvPr id="10" name="Text 8"/>
          <p:cNvSpPr/>
          <p:nvPr/>
        </p:nvSpPr>
        <p:spPr>
          <a:xfrm>
            <a:off x="640080" y="2011680"/>
            <a:ext cx="2011680" cy="274320"/>
          </a:xfrm>
          <a:prstGeom prst="rect">
            <a:avLst/>
          </a:prstGeom>
          <a:noFill/>
          <a:ln/>
        </p:spPr>
        <p:txBody>
          <a:bodyPr wrap="square" lIns="0" tIns="0" rIns="0" bIns="0" rtlCol="0" anchor="ctr"/>
          <a:lstStyle/>
          <a:p>
            <a:pPr indent="0" marL="0">
              <a:buNone/>
            </a:pPr>
            <a:r>
              <a:rPr lang="en-US" sz="1200" b="1" dirty="0">
                <a:solidFill>
                  <a:srgbClr val="F87171"/>
                </a:solidFill>
                <a:latin typeface="Arial" pitchFamily="34" charset="0"/>
                <a:ea typeface="Arial" pitchFamily="34" charset="-122"/>
                <a:cs typeface="Arial" pitchFamily="34" charset="-120"/>
              </a:rPr>
              <a:t>Splice / LANDR</a:t>
            </a:r>
            <a:endParaRPr lang="en-US" sz="1200" dirty="0"/>
          </a:p>
        </p:txBody>
      </p:sp>
      <p:sp>
        <p:nvSpPr>
          <p:cNvPr id="11" name="Text 9"/>
          <p:cNvSpPr/>
          <p:nvPr/>
        </p:nvSpPr>
        <p:spPr>
          <a:xfrm>
            <a:off x="2651760" y="2011680"/>
            <a:ext cx="5852160" cy="502920"/>
          </a:xfrm>
          <a:prstGeom prst="rect">
            <a:avLst/>
          </a:prstGeom>
          <a:noFill/>
          <a:ln/>
        </p:spPr>
        <p:txBody>
          <a:bodyPr wrap="square" lIns="0" tIns="0" rIns="0" bIns="0" rtlCol="0" anchor="ctr"/>
          <a:lstStyle/>
          <a:p>
            <a:pPr indent="0" marL="0">
              <a:lnSpc>
                <a:spcPct val="130000"/>
              </a:lnSpc>
              <a:buNone/>
            </a:pPr>
            <a:r>
              <a:rPr lang="en-US" sz="1000" dirty="0">
                <a:solidFill>
                  <a:srgbClr val="6B6B80"/>
                </a:solidFill>
                <a:latin typeface="Arial" pitchFamily="34" charset="0"/>
                <a:ea typeface="Arial" pitchFamily="34" charset="-122"/>
                <a:cs typeface="Arial" pitchFamily="34" charset="-120"/>
              </a:rPr>
              <a:t>Sample libraries and automated mastering. Useful tools, but no AI production guidance. You still need to know what you're doing.</a:t>
            </a:r>
            <a:endParaRPr lang="en-US" sz="1000" dirty="0"/>
          </a:p>
        </p:txBody>
      </p:sp>
      <p:sp>
        <p:nvSpPr>
          <p:cNvPr id="12" name="Text 10"/>
          <p:cNvSpPr/>
          <p:nvPr/>
        </p:nvSpPr>
        <p:spPr>
          <a:xfrm>
            <a:off x="640080" y="2651760"/>
            <a:ext cx="2011680" cy="274320"/>
          </a:xfrm>
          <a:prstGeom prst="rect">
            <a:avLst/>
          </a:prstGeom>
          <a:noFill/>
          <a:ln/>
        </p:spPr>
        <p:txBody>
          <a:bodyPr wrap="square" lIns="0" tIns="0" rIns="0" bIns="0" rtlCol="0" anchor="ctr"/>
          <a:lstStyle/>
          <a:p>
            <a:pPr indent="0" marL="0">
              <a:buNone/>
            </a:pPr>
            <a:r>
              <a:rPr lang="en-US" sz="1200" b="1" dirty="0">
                <a:solidFill>
                  <a:srgbClr val="F87171"/>
                </a:solidFill>
                <a:latin typeface="Arial" pitchFamily="34" charset="0"/>
                <a:ea typeface="Arial" pitchFamily="34" charset="-122"/>
                <a:cs typeface="Arial" pitchFamily="34" charset="-120"/>
              </a:rPr>
              <a:t>YouTube / Courses</a:t>
            </a:r>
            <a:endParaRPr lang="en-US" sz="1200" dirty="0"/>
          </a:p>
        </p:txBody>
      </p:sp>
      <p:sp>
        <p:nvSpPr>
          <p:cNvPr id="13" name="Text 11"/>
          <p:cNvSpPr/>
          <p:nvPr/>
        </p:nvSpPr>
        <p:spPr>
          <a:xfrm>
            <a:off x="2651760" y="2651760"/>
            <a:ext cx="5852160" cy="502920"/>
          </a:xfrm>
          <a:prstGeom prst="rect">
            <a:avLst/>
          </a:prstGeom>
          <a:noFill/>
          <a:ln/>
        </p:spPr>
        <p:txBody>
          <a:bodyPr wrap="square" lIns="0" tIns="0" rIns="0" bIns="0" rtlCol="0" anchor="ctr"/>
          <a:lstStyle/>
          <a:p>
            <a:pPr indent="0" marL="0">
              <a:lnSpc>
                <a:spcPct val="130000"/>
              </a:lnSpc>
              <a:buNone/>
            </a:pPr>
            <a:r>
              <a:rPr lang="en-US" sz="1000" dirty="0">
                <a:solidFill>
                  <a:srgbClr val="6B6B80"/>
                </a:solidFill>
                <a:latin typeface="Arial" pitchFamily="34" charset="0"/>
                <a:ea typeface="Arial" pitchFamily="34" charset="-122"/>
                <a:cs typeface="Arial" pitchFamily="34" charset="-120"/>
              </a:rPr>
              <a:t>Passive learning. You watch someone else produce. Hours of content, no hands-on building, no personalized feedback.</a:t>
            </a:r>
            <a:endParaRPr lang="en-US" sz="1000" dirty="0"/>
          </a:p>
        </p:txBody>
      </p:sp>
      <p:sp>
        <p:nvSpPr>
          <p:cNvPr id="14" name="Shape 12"/>
          <p:cNvSpPr/>
          <p:nvPr/>
        </p:nvSpPr>
        <p:spPr>
          <a:xfrm>
            <a:off x="640080" y="3246120"/>
            <a:ext cx="7863840" cy="27432"/>
          </a:xfrm>
          <a:prstGeom prst="rectangle">
            <a:avLst/>
          </a:prstGeom>
          <a:solidFill>
            <a:srgbClr val="E8A230"/>
          </a:solidFill>
          <a:ln/>
        </p:spPr>
      </p:sp>
      <p:sp>
        <p:nvSpPr>
          <p:cNvPr id="15" name="Text 13"/>
          <p:cNvSpPr/>
          <p:nvPr/>
        </p:nvSpPr>
        <p:spPr>
          <a:xfrm>
            <a:off x="640080" y="3383280"/>
            <a:ext cx="2743200" cy="274320"/>
          </a:xfrm>
          <a:prstGeom prst="rect">
            <a:avLst/>
          </a:prstGeom>
          <a:noFill/>
          <a:ln/>
        </p:spPr>
        <p:txBody>
          <a:bodyPr wrap="square" lIns="0" tIns="0" rIns="0" bIns="0" rtlCol="0" anchor="ctr"/>
          <a:lstStyle/>
          <a:p>
            <a:pPr indent="0" marL="0">
              <a:buNone/>
            </a:pPr>
            <a:r>
              <a:rPr lang="en-US" sz="1100" b="1" spc="200" kern="0" dirty="0">
                <a:solidFill>
                  <a:srgbClr val="E8A230"/>
                </a:solidFill>
                <a:latin typeface="Arial" pitchFamily="34" charset="0"/>
                <a:ea typeface="Arial" pitchFamily="34" charset="-122"/>
                <a:cs typeface="Arial" pitchFamily="34" charset="-120"/>
              </a:rPr>
              <a:t>BEATBRAIN</a:t>
            </a:r>
            <a:endParaRPr lang="en-US" sz="1100" dirty="0"/>
          </a:p>
        </p:txBody>
      </p:sp>
      <p:pic>
        <p:nvPicPr>
          <p:cNvPr id="16" name="Image 0" descr="preencoded.png">    </p:cNvPr>
          <p:cNvPicPr>
            <a:picLocks noChangeAspect="1"/>
          </p:cNvPicPr>
          <p:nvPr/>
        </p:nvPicPr>
        <p:blipFill>
          <a:blip r:embed="rId1"/>
          <a:stretch>
            <a:fillRect/>
          </a:stretch>
        </p:blipFill>
        <p:spPr>
          <a:xfrm>
            <a:off x="640080" y="3703320"/>
            <a:ext cx="201168" cy="201168"/>
          </a:xfrm>
          <a:prstGeom prst="rect">
            <a:avLst/>
          </a:prstGeom>
        </p:spPr>
      </p:pic>
      <p:sp>
        <p:nvSpPr>
          <p:cNvPr id="17" name="Text 14"/>
          <p:cNvSpPr/>
          <p:nvPr/>
        </p:nvSpPr>
        <p:spPr>
          <a:xfrm>
            <a:off x="960120" y="3675888"/>
            <a:ext cx="7498080" cy="274320"/>
          </a:xfrm>
          <a:prstGeom prst="rect">
            <a:avLst/>
          </a:prstGeom>
          <a:noFill/>
          <a:ln/>
        </p:spPr>
        <p:txBody>
          <a:bodyPr wrap="square" lIns="0" tIns="0" rIns="0" bIns="0" rtlCol="0" anchor="ctr"/>
          <a:lstStyle/>
          <a:p>
            <a:pPr indent="0" marL="0">
              <a:buNone/>
            </a:pPr>
            <a:r>
              <a:rPr lang="en-US" sz="1100" dirty="0">
                <a:solidFill>
                  <a:srgbClr val="F0F0F5"/>
                </a:solidFill>
                <a:latin typeface="Arial" pitchFamily="34" charset="0"/>
                <a:ea typeface="Arial" pitchFamily="34" charset="-122"/>
                <a:cs typeface="Arial" pitchFamily="34" charset="-120"/>
              </a:rPr>
              <a:t>AI copilot — helps you produce, doesn't produce for you</a:t>
            </a:r>
            <a:endParaRPr lang="en-US" sz="1100" dirty="0"/>
          </a:p>
        </p:txBody>
      </p:sp>
      <p:pic>
        <p:nvPicPr>
          <p:cNvPr id="18" name="Image 1" descr="preencoded.png">    </p:cNvPr>
          <p:cNvPicPr>
            <a:picLocks noChangeAspect="1"/>
          </p:cNvPicPr>
          <p:nvPr/>
        </p:nvPicPr>
        <p:blipFill>
          <a:blip r:embed="rId2"/>
          <a:stretch>
            <a:fillRect/>
          </a:stretch>
        </p:blipFill>
        <p:spPr>
          <a:xfrm>
            <a:off x="640080" y="4023360"/>
            <a:ext cx="201168" cy="201168"/>
          </a:xfrm>
          <a:prstGeom prst="rect">
            <a:avLst/>
          </a:prstGeom>
        </p:spPr>
      </p:pic>
      <p:sp>
        <p:nvSpPr>
          <p:cNvPr id="19" name="Text 15"/>
          <p:cNvSpPr/>
          <p:nvPr/>
        </p:nvSpPr>
        <p:spPr>
          <a:xfrm>
            <a:off x="960120" y="3995928"/>
            <a:ext cx="7498080" cy="274320"/>
          </a:xfrm>
          <a:prstGeom prst="rect">
            <a:avLst/>
          </a:prstGeom>
          <a:noFill/>
          <a:ln/>
        </p:spPr>
        <p:txBody>
          <a:bodyPr wrap="square" lIns="0" tIns="0" rIns="0" bIns="0" rtlCol="0" anchor="ctr"/>
          <a:lstStyle/>
          <a:p>
            <a:pPr indent="0" marL="0">
              <a:buNone/>
            </a:pPr>
            <a:r>
              <a:rPr lang="en-US" sz="1100" dirty="0">
                <a:solidFill>
                  <a:srgbClr val="F0F0F5"/>
                </a:solidFill>
                <a:latin typeface="Arial" pitchFamily="34" charset="0"/>
                <a:ea typeface="Arial" pitchFamily="34" charset="-122"/>
                <a:cs typeface="Arial" pitchFamily="34" charset="-120"/>
              </a:rPr>
              <a:t>Adaptive skill levels — same app works for beginners and pros</a:t>
            </a:r>
            <a:endParaRPr lang="en-US" sz="1100" dirty="0"/>
          </a:p>
        </p:txBody>
      </p:sp>
      <p:pic>
        <p:nvPicPr>
          <p:cNvPr id="20" name="Image 2" descr="preencoded.png">    </p:cNvPr>
          <p:cNvPicPr>
            <a:picLocks noChangeAspect="1"/>
          </p:cNvPicPr>
          <p:nvPr/>
        </p:nvPicPr>
        <p:blipFill>
          <a:blip r:embed="rId3"/>
          <a:stretch>
            <a:fillRect/>
          </a:stretch>
        </p:blipFill>
        <p:spPr>
          <a:xfrm>
            <a:off x="640080" y="4343400"/>
            <a:ext cx="201168" cy="201168"/>
          </a:xfrm>
          <a:prstGeom prst="rect">
            <a:avLst/>
          </a:prstGeom>
        </p:spPr>
      </p:pic>
      <p:sp>
        <p:nvSpPr>
          <p:cNvPr id="21" name="Text 16"/>
          <p:cNvSpPr/>
          <p:nvPr/>
        </p:nvSpPr>
        <p:spPr>
          <a:xfrm>
            <a:off x="960120" y="4315968"/>
            <a:ext cx="7498080" cy="274320"/>
          </a:xfrm>
          <a:prstGeom prst="rect">
            <a:avLst/>
          </a:prstGeom>
          <a:noFill/>
          <a:ln/>
        </p:spPr>
        <p:txBody>
          <a:bodyPr wrap="square" lIns="0" tIns="0" rIns="0" bIns="0" rtlCol="0" anchor="ctr"/>
          <a:lstStyle/>
          <a:p>
            <a:pPr indent="0" marL="0">
              <a:buNone/>
            </a:pPr>
            <a:r>
              <a:rPr lang="en-US" sz="1100" dirty="0">
                <a:solidFill>
                  <a:srgbClr val="F0F0F5"/>
                </a:solidFill>
                <a:latin typeface="Arial" pitchFamily="34" charset="0"/>
                <a:ea typeface="Arial" pitchFamily="34" charset="-122"/>
                <a:cs typeface="Arial" pitchFamily="34" charset="-120"/>
              </a:rPr>
              <a:t>200KB+ of curated, opinionated genre knowledge — not generic AI</a:t>
            </a:r>
            <a:endParaRPr lang="en-US" sz="1100" dirty="0"/>
          </a:p>
        </p:txBody>
      </p:sp>
      <p:pic>
        <p:nvPicPr>
          <p:cNvPr id="22" name="Image 3" descr="preencoded.png">    </p:cNvPr>
          <p:cNvPicPr>
            <a:picLocks noChangeAspect="1"/>
          </p:cNvPicPr>
          <p:nvPr/>
        </p:nvPicPr>
        <p:blipFill>
          <a:blip r:embed="rId4"/>
          <a:stretch>
            <a:fillRect/>
          </a:stretch>
        </p:blipFill>
        <p:spPr>
          <a:xfrm>
            <a:off x="640080" y="4663440"/>
            <a:ext cx="201168" cy="201168"/>
          </a:xfrm>
          <a:prstGeom prst="rect">
            <a:avLst/>
          </a:prstGeom>
        </p:spPr>
      </p:pic>
      <p:sp>
        <p:nvSpPr>
          <p:cNvPr id="23" name="Text 17"/>
          <p:cNvSpPr/>
          <p:nvPr/>
        </p:nvSpPr>
        <p:spPr>
          <a:xfrm>
            <a:off x="960120" y="4636008"/>
            <a:ext cx="7498080" cy="274320"/>
          </a:xfrm>
          <a:prstGeom prst="rect">
            <a:avLst/>
          </a:prstGeom>
          <a:noFill/>
          <a:ln/>
        </p:spPr>
        <p:txBody>
          <a:bodyPr wrap="square" lIns="0" tIns="0" rIns="0" bIns="0" rtlCol="0" anchor="ctr"/>
          <a:lstStyle/>
          <a:p>
            <a:pPr indent="0" marL="0">
              <a:buNone/>
            </a:pPr>
            <a:r>
              <a:rPr lang="en-US" sz="1100" dirty="0">
                <a:solidFill>
                  <a:srgbClr val="F0F0F5"/>
                </a:solidFill>
                <a:latin typeface="Arial" pitchFamily="34" charset="0"/>
                <a:ea typeface="Arial" pitchFamily="34" charset="-122"/>
                <a:cs typeface="Arial" pitchFamily="34" charset="-120"/>
              </a:rPr>
              <a:t>Outputs real files you drag into your DAW — MIDI, not mp3s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10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Connect Your Music</a:t>
            </a:r>
            <a:endParaRPr lang="en-US" sz="3600" dirty="0"/>
          </a:p>
        </p:txBody>
      </p:sp>
      <p:sp>
        <p:nvSpPr>
          <p:cNvPr id="7" name="Text 5"/>
          <p:cNvSpPr/>
          <p:nvPr/>
        </p:nvSpPr>
        <p:spPr>
          <a:xfrm>
            <a:off x="640080" y="914400"/>
            <a:ext cx="7863840" cy="32004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BeatBrain learns your taste from what you already listen to. One system, three sources.</a:t>
            </a:r>
            <a:endParaRPr lang="en-US" sz="1300" dirty="0"/>
          </a:p>
        </p:txBody>
      </p:sp>
      <p:sp>
        <p:nvSpPr>
          <p:cNvPr id="8" name="Shape 6"/>
          <p:cNvSpPr/>
          <p:nvPr/>
        </p:nvSpPr>
        <p:spPr>
          <a:xfrm>
            <a:off x="640080" y="1463040"/>
            <a:ext cx="2560320" cy="228600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9" name="Image 0" descr="preencoded.png">    </p:cNvPr>
          <p:cNvPicPr>
            <a:picLocks noChangeAspect="1"/>
          </p:cNvPicPr>
          <p:nvPr/>
        </p:nvPicPr>
        <p:blipFill>
          <a:blip r:embed="rId1"/>
          <a:stretch>
            <a:fillRect/>
          </a:stretch>
        </p:blipFill>
        <p:spPr>
          <a:xfrm>
            <a:off x="1600200" y="1691640"/>
            <a:ext cx="640080" cy="640080"/>
          </a:xfrm>
          <a:prstGeom prst="rect">
            <a:avLst/>
          </a:prstGeom>
        </p:spPr>
      </p:pic>
      <p:sp>
        <p:nvSpPr>
          <p:cNvPr id="10" name="Text 7"/>
          <p:cNvSpPr/>
          <p:nvPr/>
        </p:nvSpPr>
        <p:spPr>
          <a:xfrm>
            <a:off x="822960" y="2468880"/>
            <a:ext cx="2194560" cy="320040"/>
          </a:xfrm>
          <a:prstGeom prst="rect">
            <a:avLst/>
          </a:prstGeom>
          <a:noFill/>
          <a:ln/>
        </p:spPr>
        <p:txBody>
          <a:bodyPr wrap="square" lIns="0" tIns="0" rIns="0" bIns="0" rtlCol="0" anchor="ctr"/>
          <a:lstStyle/>
          <a:p>
            <a:pPr algn="ctr" indent="0" marL="0">
              <a:buNone/>
            </a:pPr>
            <a:r>
              <a:rPr lang="en-US" sz="1600" b="1" dirty="0">
                <a:solidFill>
                  <a:srgbClr val="4ADE80"/>
                </a:solidFill>
                <a:latin typeface="Arial" pitchFamily="34" charset="0"/>
                <a:ea typeface="Arial" pitchFamily="34" charset="-122"/>
                <a:cs typeface="Arial" pitchFamily="34" charset="-120"/>
              </a:rPr>
              <a:t>Spotify</a:t>
            </a:r>
            <a:endParaRPr lang="en-US" sz="1600" dirty="0"/>
          </a:p>
        </p:txBody>
      </p:sp>
      <p:sp>
        <p:nvSpPr>
          <p:cNvPr id="11" name="Text 8"/>
          <p:cNvSpPr/>
          <p:nvPr/>
        </p:nvSpPr>
        <p:spPr>
          <a:xfrm>
            <a:off x="868680" y="2880360"/>
            <a:ext cx="2103120" cy="731520"/>
          </a:xfrm>
          <a:prstGeom prst="rect">
            <a:avLst/>
          </a:prstGeom>
          <a:noFill/>
          <a:ln/>
        </p:spPr>
        <p:txBody>
          <a:bodyPr wrap="square" lIns="0" tIns="0" rIns="0" bIns="0" rtlCol="0" anchor="ctr"/>
          <a:lstStyle/>
          <a:p>
            <a:pPr algn="ctr" indent="0" marL="0">
              <a:lnSpc>
                <a:spcPct val="140000"/>
              </a:lnSpc>
              <a:buNone/>
            </a:pPr>
            <a:r>
              <a:rPr lang="en-US" sz="1000" dirty="0">
                <a:solidFill>
                  <a:srgbClr val="B0B0C0"/>
                </a:solidFill>
                <a:latin typeface="Arial" pitchFamily="34" charset="0"/>
                <a:ea typeface="Arial" pitchFamily="34" charset="-122"/>
                <a:cs typeface="Arial" pitchFamily="34" charset="-120"/>
              </a:rPr>
              <a:t>Top artists, tracks, per-track audio features — BPM, energy, danceability, valence.</a:t>
            </a:r>
            <a:endParaRPr lang="en-US" sz="1000" dirty="0"/>
          </a:p>
        </p:txBody>
      </p:sp>
      <p:sp>
        <p:nvSpPr>
          <p:cNvPr id="12" name="Shape 9"/>
          <p:cNvSpPr/>
          <p:nvPr/>
        </p:nvSpPr>
        <p:spPr>
          <a:xfrm>
            <a:off x="3474720" y="1463040"/>
            <a:ext cx="2560320" cy="228600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3" name="Image 1" descr="preencoded.png">    </p:cNvPr>
          <p:cNvPicPr>
            <a:picLocks noChangeAspect="1"/>
          </p:cNvPicPr>
          <p:nvPr/>
        </p:nvPicPr>
        <p:blipFill>
          <a:blip r:embed="rId2"/>
          <a:stretch>
            <a:fillRect/>
          </a:stretch>
        </p:blipFill>
        <p:spPr>
          <a:xfrm>
            <a:off x="4434840" y="1691640"/>
            <a:ext cx="640080" cy="640080"/>
          </a:xfrm>
          <a:prstGeom prst="rect">
            <a:avLst/>
          </a:prstGeom>
        </p:spPr>
      </p:pic>
      <p:sp>
        <p:nvSpPr>
          <p:cNvPr id="14" name="Text 10"/>
          <p:cNvSpPr/>
          <p:nvPr/>
        </p:nvSpPr>
        <p:spPr>
          <a:xfrm>
            <a:off x="3657600" y="2468880"/>
            <a:ext cx="2194560" cy="320040"/>
          </a:xfrm>
          <a:prstGeom prst="rect">
            <a:avLst/>
          </a:prstGeom>
          <a:noFill/>
          <a:ln/>
        </p:spPr>
        <p:txBody>
          <a:bodyPr wrap="square" lIns="0" tIns="0" rIns="0" bIns="0" rtlCol="0" anchor="ctr"/>
          <a:lstStyle/>
          <a:p>
            <a:pPr algn="ctr" indent="0" marL="0">
              <a:buNone/>
            </a:pPr>
            <a:r>
              <a:rPr lang="en-US" sz="1600" b="1" dirty="0">
                <a:solidFill>
                  <a:srgbClr val="F0F0F5"/>
                </a:solidFill>
                <a:latin typeface="Arial" pitchFamily="34" charset="0"/>
                <a:ea typeface="Arial" pitchFamily="34" charset="-122"/>
                <a:cs typeface="Arial" pitchFamily="34" charset="-120"/>
              </a:rPr>
              <a:t>Apple Music</a:t>
            </a:r>
            <a:endParaRPr lang="en-US" sz="1600" dirty="0"/>
          </a:p>
        </p:txBody>
      </p:sp>
      <p:sp>
        <p:nvSpPr>
          <p:cNvPr id="15" name="Text 11"/>
          <p:cNvSpPr/>
          <p:nvPr/>
        </p:nvSpPr>
        <p:spPr>
          <a:xfrm>
            <a:off x="3703320" y="2880360"/>
            <a:ext cx="2103120" cy="731520"/>
          </a:xfrm>
          <a:prstGeom prst="rect">
            <a:avLst/>
          </a:prstGeom>
          <a:noFill/>
          <a:ln/>
        </p:spPr>
        <p:txBody>
          <a:bodyPr wrap="square" lIns="0" tIns="0" rIns="0" bIns="0" rtlCol="0" anchor="ctr"/>
          <a:lstStyle/>
          <a:p>
            <a:pPr algn="ctr" indent="0" marL="0">
              <a:lnSpc>
                <a:spcPct val="140000"/>
              </a:lnSpc>
              <a:buNone/>
            </a:pPr>
            <a:r>
              <a:rPr lang="en-US" sz="1000" dirty="0">
                <a:solidFill>
                  <a:srgbClr val="B0B0C0"/>
                </a:solidFill>
                <a:latin typeface="Arial" pitchFamily="34" charset="0"/>
                <a:ea typeface="Arial" pitchFamily="34" charset="-122"/>
                <a:cs typeface="Arial" pitchFamily="34" charset="-120"/>
              </a:rPr>
              <a:t>Listening history, heavy rotation, library data via MusicKit API.</a:t>
            </a:r>
            <a:endParaRPr lang="en-US" sz="1000" dirty="0"/>
          </a:p>
        </p:txBody>
      </p:sp>
      <p:sp>
        <p:nvSpPr>
          <p:cNvPr id="16" name="Shape 12"/>
          <p:cNvSpPr/>
          <p:nvPr/>
        </p:nvSpPr>
        <p:spPr>
          <a:xfrm>
            <a:off x="6309360" y="1463040"/>
            <a:ext cx="2560320" cy="228600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7" name="Image 2" descr="preencoded.png">    </p:cNvPr>
          <p:cNvPicPr>
            <a:picLocks noChangeAspect="1"/>
          </p:cNvPicPr>
          <p:nvPr/>
        </p:nvPicPr>
        <p:blipFill>
          <a:blip r:embed="rId3"/>
          <a:stretch>
            <a:fillRect/>
          </a:stretch>
        </p:blipFill>
        <p:spPr>
          <a:xfrm>
            <a:off x="7269480" y="1691640"/>
            <a:ext cx="640080" cy="640080"/>
          </a:xfrm>
          <a:prstGeom prst="rect">
            <a:avLst/>
          </a:prstGeom>
        </p:spPr>
      </p:pic>
      <p:sp>
        <p:nvSpPr>
          <p:cNvPr id="18" name="Text 13"/>
          <p:cNvSpPr/>
          <p:nvPr/>
        </p:nvSpPr>
        <p:spPr>
          <a:xfrm>
            <a:off x="6492240" y="2468880"/>
            <a:ext cx="2194560" cy="320040"/>
          </a:xfrm>
          <a:prstGeom prst="rect">
            <a:avLst/>
          </a:prstGeom>
          <a:noFill/>
          <a:ln/>
        </p:spPr>
        <p:txBody>
          <a:bodyPr wrap="square" lIns="0" tIns="0" rIns="0" bIns="0" rtlCol="0" anchor="ctr"/>
          <a:lstStyle/>
          <a:p>
            <a:pPr algn="ctr" indent="0" marL="0">
              <a:buNone/>
            </a:pPr>
            <a:r>
              <a:rPr lang="en-US" sz="1600" b="1" dirty="0">
                <a:solidFill>
                  <a:srgbClr val="FF5500"/>
                </a:solidFill>
                <a:latin typeface="Arial" pitchFamily="34" charset="0"/>
                <a:ea typeface="Arial" pitchFamily="34" charset="-122"/>
                <a:cs typeface="Arial" pitchFamily="34" charset="-120"/>
              </a:rPr>
              <a:t>SoundCloud</a:t>
            </a:r>
            <a:endParaRPr lang="en-US" sz="1600" dirty="0"/>
          </a:p>
        </p:txBody>
      </p:sp>
      <p:sp>
        <p:nvSpPr>
          <p:cNvPr id="19" name="Text 14"/>
          <p:cNvSpPr/>
          <p:nvPr/>
        </p:nvSpPr>
        <p:spPr>
          <a:xfrm>
            <a:off x="6537960" y="2880360"/>
            <a:ext cx="2103120" cy="731520"/>
          </a:xfrm>
          <a:prstGeom prst="rect">
            <a:avLst/>
          </a:prstGeom>
          <a:noFill/>
          <a:ln/>
        </p:spPr>
        <p:txBody>
          <a:bodyPr wrap="square" lIns="0" tIns="0" rIns="0" bIns="0" rtlCol="0" anchor="ctr"/>
          <a:lstStyle/>
          <a:p>
            <a:pPr algn="ctr" indent="0" marL="0">
              <a:lnSpc>
                <a:spcPct val="140000"/>
              </a:lnSpc>
              <a:buNone/>
            </a:pPr>
            <a:r>
              <a:rPr lang="en-US" sz="1000" dirty="0">
                <a:solidFill>
                  <a:srgbClr val="B0B0C0"/>
                </a:solidFill>
                <a:latin typeface="Arial" pitchFamily="34" charset="0"/>
                <a:ea typeface="Arial" pitchFamily="34" charset="-122"/>
                <a:cs typeface="Arial" pitchFamily="34" charset="-120"/>
              </a:rPr>
              <a:t>Likes, reposts, playlists. Strongest signal for underground taste.</a:t>
            </a:r>
            <a:endParaRPr lang="en-US" sz="1000" dirty="0"/>
          </a:p>
        </p:txBody>
      </p:sp>
      <p:sp>
        <p:nvSpPr>
          <p:cNvPr id="20" name="Shape 15"/>
          <p:cNvSpPr/>
          <p:nvPr/>
        </p:nvSpPr>
        <p:spPr>
          <a:xfrm>
            <a:off x="640080" y="4023360"/>
            <a:ext cx="7863840" cy="457200"/>
          </a:xfrm>
          <a:prstGeom prst="rectangle">
            <a:avLst/>
          </a:prstGeom>
          <a:solidFill>
            <a:srgbClr val="111118"/>
          </a:solidFill>
          <a:ln/>
        </p:spPr>
      </p:sp>
      <p:sp>
        <p:nvSpPr>
          <p:cNvPr id="21" name="Text 16"/>
          <p:cNvSpPr/>
          <p:nvPr/>
        </p:nvSpPr>
        <p:spPr>
          <a:xfrm>
            <a:off x="822960" y="4023360"/>
            <a:ext cx="7498080" cy="457200"/>
          </a:xfrm>
          <a:prstGeom prst="rect">
            <a:avLst/>
          </a:prstGeom>
          <a:noFill/>
          <a:ln/>
        </p:spPr>
        <p:txBody>
          <a:bodyPr wrap="square" lIns="0" tIns="0" rIns="0" bIns="0" rtlCol="0" anchor="ctr"/>
          <a:lstStyle/>
          <a:p>
            <a:pPr algn="ctr" indent="0" marL="0">
              <a:buNone/>
            </a:pPr>
            <a:r>
              <a:rPr lang="en-US" sz="1100" dirty="0">
                <a:solidFill>
                  <a:srgbClr val="E8A230"/>
                </a:solidFill>
                <a:latin typeface="Arial" pitchFamily="34" charset="0"/>
                <a:ea typeface="Arial" pitchFamily="34" charset="-122"/>
                <a:cs typeface="Arial" pitchFamily="34" charset="-120"/>
              </a:rPr>
              <a:t>AI generations passively shaped by your taste — tempo, key, mood, energy — without asking.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11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Product Roadmap</a:t>
            </a:r>
            <a:endParaRPr lang="en-US" sz="3600" dirty="0"/>
          </a:p>
        </p:txBody>
      </p:sp>
      <p:sp>
        <p:nvSpPr>
          <p:cNvPr id="7" name="Shape 5"/>
          <p:cNvSpPr/>
          <p:nvPr/>
        </p:nvSpPr>
        <p:spPr>
          <a:xfrm>
            <a:off x="640080" y="1097280"/>
            <a:ext cx="2560320" cy="320040"/>
          </a:xfrm>
          <a:prstGeom prst="rectangle">
            <a:avLst/>
          </a:prstGeom>
          <a:solidFill>
            <a:srgbClr val="4ADE80"/>
          </a:solidFill>
          <a:ln/>
        </p:spPr>
      </p:sp>
      <p:sp>
        <p:nvSpPr>
          <p:cNvPr id="8" name="Text 6"/>
          <p:cNvSpPr/>
          <p:nvPr/>
        </p:nvSpPr>
        <p:spPr>
          <a:xfrm>
            <a:off x="640080" y="1097280"/>
            <a:ext cx="2560320" cy="320040"/>
          </a:xfrm>
          <a:prstGeom prst="rect">
            <a:avLst/>
          </a:prstGeom>
          <a:noFill/>
          <a:ln/>
        </p:spPr>
        <p:txBody>
          <a:bodyPr wrap="square" lIns="0" tIns="0" rIns="0" bIns="0" rtlCol="0" anchor="ctr"/>
          <a:lstStyle/>
          <a:p>
            <a:pPr algn="ctr" indent="0" marL="0">
              <a:buNone/>
            </a:pPr>
            <a:r>
              <a:rPr lang="en-US" sz="1200" b="1" dirty="0">
                <a:solidFill>
                  <a:srgbClr val="0A0A10"/>
                </a:solidFill>
                <a:latin typeface="Arial" pitchFamily="34" charset="0"/>
                <a:ea typeface="Arial" pitchFamily="34" charset="-122"/>
                <a:cs typeface="Arial" pitchFamily="34" charset="-120"/>
              </a:rPr>
              <a:t>NOW</a:t>
            </a:r>
            <a:endParaRPr lang="en-US" sz="1200" dirty="0"/>
          </a:p>
        </p:txBody>
      </p:sp>
      <p:sp>
        <p:nvSpPr>
          <p:cNvPr id="9" name="Text 7"/>
          <p:cNvSpPr/>
          <p:nvPr/>
        </p:nvSpPr>
        <p:spPr>
          <a:xfrm>
            <a:off x="640080" y="1508760"/>
            <a:ext cx="2560320" cy="320040"/>
          </a:xfrm>
          <a:prstGeom prst="rect">
            <a:avLst/>
          </a:prstGeom>
          <a:noFill/>
          <a:ln/>
        </p:spPr>
        <p:txBody>
          <a:bodyPr wrap="square" lIns="0" tIns="0" rIns="0" bIns="0" rtlCol="0" anchor="ctr"/>
          <a:lstStyle/>
          <a:p>
            <a:pPr indent="0" marL="0">
              <a:buNone/>
            </a:pPr>
            <a:r>
              <a:rPr lang="en-US" sz="1400" b="1" dirty="0">
                <a:solidFill>
                  <a:srgbClr val="4ADE80"/>
                </a:solidFill>
                <a:latin typeface="Arial" pitchFamily="34" charset="0"/>
                <a:ea typeface="Arial" pitchFamily="34" charset="-122"/>
                <a:cs typeface="Arial" pitchFamily="34" charset="-120"/>
              </a:rPr>
              <a:t>Refine &amp; Expand</a:t>
            </a:r>
            <a:endParaRPr lang="en-US" sz="1400" dirty="0"/>
          </a:p>
        </p:txBody>
      </p:sp>
      <p:sp>
        <p:nvSpPr>
          <p:cNvPr id="10" name="Shape 8"/>
          <p:cNvSpPr/>
          <p:nvPr/>
        </p:nvSpPr>
        <p:spPr>
          <a:xfrm>
            <a:off x="640080" y="1874520"/>
            <a:ext cx="2560320" cy="25603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1" name="Text 9"/>
          <p:cNvSpPr/>
          <p:nvPr/>
        </p:nvSpPr>
        <p:spPr>
          <a:xfrm>
            <a:off x="822960" y="201168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Multi-platform taste profiling</a:t>
            </a:r>
            <a:endParaRPr lang="en-US" sz="1000" dirty="0"/>
          </a:p>
        </p:txBody>
      </p:sp>
      <p:sp>
        <p:nvSpPr>
          <p:cNvPr id="12" name="Text 10"/>
          <p:cNvSpPr/>
          <p:nvPr/>
        </p:nvSpPr>
        <p:spPr>
          <a:xfrm>
            <a:off x="822960" y="260604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Cloud vocal separation (10x faster)</a:t>
            </a:r>
            <a:endParaRPr lang="en-US" sz="1000" dirty="0"/>
          </a:p>
        </p:txBody>
      </p:sp>
      <p:sp>
        <p:nvSpPr>
          <p:cNvPr id="13" name="Text 11"/>
          <p:cNvSpPr/>
          <p:nvPr/>
        </p:nvSpPr>
        <p:spPr>
          <a:xfrm>
            <a:off x="822960" y="320040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Guided learning system</a:t>
            </a:r>
            <a:endParaRPr lang="en-US" sz="1000" dirty="0"/>
          </a:p>
        </p:txBody>
      </p:sp>
      <p:sp>
        <p:nvSpPr>
          <p:cNvPr id="14" name="Text 12"/>
          <p:cNvSpPr/>
          <p:nvPr/>
        </p:nvSpPr>
        <p:spPr>
          <a:xfrm>
            <a:off x="822960" y="379476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More genre presets + knowledge bases</a:t>
            </a:r>
            <a:endParaRPr lang="en-US" sz="1000" dirty="0"/>
          </a:p>
        </p:txBody>
      </p:sp>
      <p:sp>
        <p:nvSpPr>
          <p:cNvPr id="15" name="Shape 13"/>
          <p:cNvSpPr/>
          <p:nvPr/>
        </p:nvSpPr>
        <p:spPr>
          <a:xfrm>
            <a:off x="3474720" y="1097280"/>
            <a:ext cx="2560320" cy="320040"/>
          </a:xfrm>
          <a:prstGeom prst="rectangle">
            <a:avLst/>
          </a:prstGeom>
          <a:solidFill>
            <a:srgbClr val="38BDF8"/>
          </a:solidFill>
          <a:ln/>
        </p:spPr>
      </p:sp>
      <p:sp>
        <p:nvSpPr>
          <p:cNvPr id="16" name="Text 14"/>
          <p:cNvSpPr/>
          <p:nvPr/>
        </p:nvSpPr>
        <p:spPr>
          <a:xfrm>
            <a:off x="3474720" y="1097280"/>
            <a:ext cx="2560320" cy="320040"/>
          </a:xfrm>
          <a:prstGeom prst="rect">
            <a:avLst/>
          </a:prstGeom>
          <a:noFill/>
          <a:ln/>
        </p:spPr>
        <p:txBody>
          <a:bodyPr wrap="square" lIns="0" tIns="0" rIns="0" bIns="0" rtlCol="0" anchor="ctr"/>
          <a:lstStyle/>
          <a:p>
            <a:pPr algn="ctr" indent="0" marL="0">
              <a:buNone/>
            </a:pPr>
            <a:r>
              <a:rPr lang="en-US" sz="1200" b="1" dirty="0">
                <a:solidFill>
                  <a:srgbClr val="0A0A10"/>
                </a:solidFill>
                <a:latin typeface="Arial" pitchFamily="34" charset="0"/>
                <a:ea typeface="Arial" pitchFamily="34" charset="-122"/>
                <a:cs typeface="Arial" pitchFamily="34" charset="-120"/>
              </a:rPr>
              <a:t>NEXT</a:t>
            </a:r>
            <a:endParaRPr lang="en-US" sz="1200" dirty="0"/>
          </a:p>
        </p:txBody>
      </p:sp>
      <p:sp>
        <p:nvSpPr>
          <p:cNvPr id="17" name="Text 15"/>
          <p:cNvSpPr/>
          <p:nvPr/>
        </p:nvSpPr>
        <p:spPr>
          <a:xfrm>
            <a:off x="3474720" y="1508760"/>
            <a:ext cx="2560320" cy="32004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DAW Integration</a:t>
            </a:r>
            <a:endParaRPr lang="en-US" sz="1400" dirty="0"/>
          </a:p>
        </p:txBody>
      </p:sp>
      <p:sp>
        <p:nvSpPr>
          <p:cNvPr id="18" name="Shape 16"/>
          <p:cNvSpPr/>
          <p:nvPr/>
        </p:nvSpPr>
        <p:spPr>
          <a:xfrm>
            <a:off x="3474720" y="1874520"/>
            <a:ext cx="2560320" cy="25603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9" name="Text 17"/>
          <p:cNvSpPr/>
          <p:nvPr/>
        </p:nvSpPr>
        <p:spPr>
          <a:xfrm>
            <a:off x="3657600" y="201168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OSC bridge to control Ableton</a:t>
            </a:r>
            <a:endParaRPr lang="en-US" sz="1000" dirty="0"/>
          </a:p>
        </p:txBody>
      </p:sp>
      <p:sp>
        <p:nvSpPr>
          <p:cNvPr id="20" name="Text 18"/>
          <p:cNvSpPr/>
          <p:nvPr/>
        </p:nvSpPr>
        <p:spPr>
          <a:xfrm>
            <a:off x="3657600" y="260604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"Send to Ableton" on all outputs</a:t>
            </a:r>
            <a:endParaRPr lang="en-US" sz="1000" dirty="0"/>
          </a:p>
        </p:txBody>
      </p:sp>
      <p:sp>
        <p:nvSpPr>
          <p:cNvPr id="21" name="Text 19"/>
          <p:cNvSpPr/>
          <p:nvPr/>
        </p:nvSpPr>
        <p:spPr>
          <a:xfrm>
            <a:off x="3657600" y="320040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Two-way session sync</a:t>
            </a:r>
            <a:endParaRPr lang="en-US" sz="1000" dirty="0"/>
          </a:p>
        </p:txBody>
      </p:sp>
      <p:sp>
        <p:nvSpPr>
          <p:cNvPr id="22" name="Text 20"/>
          <p:cNvSpPr/>
          <p:nvPr/>
        </p:nvSpPr>
        <p:spPr>
          <a:xfrm>
            <a:off x="3657600" y="379476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Read tracks, devices, tempo, key</a:t>
            </a:r>
            <a:endParaRPr lang="en-US" sz="1000" dirty="0"/>
          </a:p>
        </p:txBody>
      </p:sp>
      <p:sp>
        <p:nvSpPr>
          <p:cNvPr id="23" name="Shape 21"/>
          <p:cNvSpPr/>
          <p:nvPr/>
        </p:nvSpPr>
        <p:spPr>
          <a:xfrm>
            <a:off x="6309360" y="1097280"/>
            <a:ext cx="2560320" cy="320040"/>
          </a:xfrm>
          <a:prstGeom prst="rectangle">
            <a:avLst/>
          </a:prstGeom>
          <a:solidFill>
            <a:srgbClr val="A78BFA"/>
          </a:solidFill>
          <a:ln/>
        </p:spPr>
      </p:sp>
      <p:sp>
        <p:nvSpPr>
          <p:cNvPr id="24" name="Text 22"/>
          <p:cNvSpPr/>
          <p:nvPr/>
        </p:nvSpPr>
        <p:spPr>
          <a:xfrm>
            <a:off x="6309360" y="1097280"/>
            <a:ext cx="2560320" cy="320040"/>
          </a:xfrm>
          <a:prstGeom prst="rect">
            <a:avLst/>
          </a:prstGeom>
          <a:noFill/>
          <a:ln/>
        </p:spPr>
        <p:txBody>
          <a:bodyPr wrap="square" lIns="0" tIns="0" rIns="0" bIns="0" rtlCol="0" anchor="ctr"/>
          <a:lstStyle/>
          <a:p>
            <a:pPr algn="ctr" indent="0" marL="0">
              <a:buNone/>
            </a:pPr>
            <a:r>
              <a:rPr lang="en-US" sz="1200" b="1" dirty="0">
                <a:solidFill>
                  <a:srgbClr val="0A0A10"/>
                </a:solidFill>
                <a:latin typeface="Arial" pitchFamily="34" charset="0"/>
                <a:ea typeface="Arial" pitchFamily="34" charset="-122"/>
                <a:cs typeface="Arial" pitchFamily="34" charset="-120"/>
              </a:rPr>
              <a:t>FUTURE</a:t>
            </a:r>
            <a:endParaRPr lang="en-US" sz="1200" dirty="0"/>
          </a:p>
        </p:txBody>
      </p:sp>
      <p:sp>
        <p:nvSpPr>
          <p:cNvPr id="25" name="Text 23"/>
          <p:cNvSpPr/>
          <p:nvPr/>
        </p:nvSpPr>
        <p:spPr>
          <a:xfrm>
            <a:off x="6309360" y="1508760"/>
            <a:ext cx="2560320" cy="320040"/>
          </a:xfrm>
          <a:prstGeom prst="rect">
            <a:avLst/>
          </a:prstGeom>
          <a:noFill/>
          <a:ln/>
        </p:spPr>
        <p:txBody>
          <a:bodyPr wrap="square" lIns="0" tIns="0" rIns="0" bIns="0" rtlCol="0" anchor="ctr"/>
          <a:lstStyle/>
          <a:p>
            <a:pPr indent="0" marL="0">
              <a:buNone/>
            </a:pPr>
            <a:r>
              <a:rPr lang="en-US" sz="1400" b="1" dirty="0">
                <a:solidFill>
                  <a:srgbClr val="A78BFA"/>
                </a:solidFill>
                <a:latin typeface="Arial" pitchFamily="34" charset="0"/>
                <a:ea typeface="Arial" pitchFamily="34" charset="-122"/>
                <a:cs typeface="Arial" pitchFamily="34" charset="-120"/>
              </a:rPr>
              <a:t>Deep Integration</a:t>
            </a:r>
            <a:endParaRPr lang="en-US" sz="1400" dirty="0"/>
          </a:p>
        </p:txBody>
      </p:sp>
      <p:sp>
        <p:nvSpPr>
          <p:cNvPr id="26" name="Shape 24"/>
          <p:cNvSpPr/>
          <p:nvPr/>
        </p:nvSpPr>
        <p:spPr>
          <a:xfrm>
            <a:off x="6309360" y="1874520"/>
            <a:ext cx="2560320" cy="25603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7" name="Text 25"/>
          <p:cNvSpPr/>
          <p:nvPr/>
        </p:nvSpPr>
        <p:spPr>
          <a:xfrm>
            <a:off x="6492240" y="201168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Max for Live device in Ableton</a:t>
            </a:r>
            <a:endParaRPr lang="en-US" sz="1000" dirty="0"/>
          </a:p>
        </p:txBody>
      </p:sp>
      <p:sp>
        <p:nvSpPr>
          <p:cNvPr id="28" name="Text 26"/>
          <p:cNvSpPr/>
          <p:nvPr/>
        </p:nvSpPr>
        <p:spPr>
          <a:xfrm>
            <a:off x="6492240" y="260604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Real-time session awareness</a:t>
            </a:r>
            <a:endParaRPr lang="en-US" sz="1000" dirty="0"/>
          </a:p>
        </p:txBody>
      </p:sp>
      <p:sp>
        <p:nvSpPr>
          <p:cNvPr id="29" name="Text 27"/>
          <p:cNvSpPr/>
          <p:nvPr/>
        </p:nvSpPr>
        <p:spPr>
          <a:xfrm>
            <a:off x="6492240" y="320040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Contextual AI suggestions</a:t>
            </a:r>
            <a:endParaRPr lang="en-US" sz="1000" dirty="0"/>
          </a:p>
        </p:txBody>
      </p:sp>
      <p:sp>
        <p:nvSpPr>
          <p:cNvPr id="30" name="Text 28"/>
          <p:cNvSpPr/>
          <p:nvPr/>
        </p:nvSpPr>
        <p:spPr>
          <a:xfrm>
            <a:off x="6492240" y="3794760"/>
            <a:ext cx="2286000" cy="50292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JUCE plugin (VST3/AU) — any DAW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12 / 17</a:t>
            </a:r>
            <a:endParaRPr lang="en-US" sz="900" dirty="0"/>
          </a:p>
        </p:txBody>
      </p:sp>
      <p:sp>
        <p:nvSpPr>
          <p:cNvPr id="6" name="Text 4"/>
          <p:cNvSpPr/>
          <p:nvPr/>
        </p:nvSpPr>
        <p:spPr>
          <a:xfrm>
            <a:off x="640080" y="365760"/>
            <a:ext cx="45720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Stem Split</a:t>
            </a:r>
            <a:endParaRPr lang="en-US" sz="3600" dirty="0"/>
          </a:p>
        </p:txBody>
      </p:sp>
      <p:sp>
        <p:nvSpPr>
          <p:cNvPr id="7" name="Text 5"/>
          <p:cNvSpPr/>
          <p:nvPr/>
        </p:nvSpPr>
        <p:spPr>
          <a:xfrm>
            <a:off x="5029200" y="457200"/>
            <a:ext cx="3474720" cy="365760"/>
          </a:xfrm>
          <a:prstGeom prst="rect">
            <a:avLst/>
          </a:prstGeom>
          <a:noFill/>
          <a:ln/>
        </p:spPr>
        <p:txBody>
          <a:bodyPr wrap="square" lIns="0" tIns="0" rIns="0" bIns="0" rtlCol="0" anchor="ctr"/>
          <a:lstStyle/>
          <a:p>
            <a:pPr algn="r" indent="0" marL="0">
              <a:buNone/>
            </a:pPr>
            <a:r>
              <a:rPr lang="en-US" sz="1300" i="1" dirty="0">
                <a:solidFill>
                  <a:srgbClr val="E8A230"/>
                </a:solidFill>
                <a:latin typeface="Arial" pitchFamily="34" charset="0"/>
                <a:ea typeface="Arial" pitchFamily="34" charset="-122"/>
                <a:cs typeface="Arial" pitchFamily="34" charset="-120"/>
              </a:rPr>
              <a:t>Second product. Same backend.</a:t>
            </a:r>
            <a:endParaRPr lang="en-US" sz="1300" dirty="0"/>
          </a:p>
        </p:txBody>
      </p:sp>
      <p:sp>
        <p:nvSpPr>
          <p:cNvPr id="8" name="Text 6"/>
          <p:cNvSpPr/>
          <p:nvPr/>
        </p:nvSpPr>
        <p:spPr>
          <a:xfrm>
            <a:off x="640080" y="1005840"/>
            <a:ext cx="7863840" cy="457200"/>
          </a:xfrm>
          <a:prstGeom prst="rect">
            <a:avLst/>
          </a:prstGeom>
          <a:noFill/>
          <a:ln/>
        </p:spPr>
        <p:txBody>
          <a:bodyPr wrap="square" lIns="0" tIns="0" rIns="0" bIns="0" rtlCol="0" anchor="ctr"/>
          <a:lstStyle/>
          <a:p>
            <a:pPr indent="0" marL="0">
              <a:lnSpc>
                <a:spcPct val="140000"/>
              </a:lnSpc>
              <a:buNone/>
            </a:pPr>
            <a:r>
              <a:rPr lang="en-US" sz="1200" dirty="0">
                <a:solidFill>
                  <a:srgbClr val="B0B0C0"/>
                </a:solidFill>
                <a:latin typeface="Arial" pitchFamily="34" charset="0"/>
                <a:ea typeface="Arial" pitchFamily="34" charset="-122"/>
                <a:cs typeface="Arial" pitchFamily="34" charset="-120"/>
              </a:rPr>
              <a:t>Standalone AI stem separation — desktop app, cloud API, and DAW plugin. Broader market than BeatBrain alone. Revenue from day one.</a:t>
            </a:r>
            <a:endParaRPr lang="en-US" sz="1200" dirty="0"/>
          </a:p>
        </p:txBody>
      </p:sp>
      <p:sp>
        <p:nvSpPr>
          <p:cNvPr id="9" name="Shape 7"/>
          <p:cNvSpPr/>
          <p:nvPr/>
        </p:nvSpPr>
        <p:spPr>
          <a:xfrm>
            <a:off x="640080" y="1645920"/>
            <a:ext cx="256032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0" name="Image 0" descr="preencoded.png">    </p:cNvPr>
          <p:cNvPicPr>
            <a:picLocks noChangeAspect="1"/>
          </p:cNvPicPr>
          <p:nvPr/>
        </p:nvPicPr>
        <p:blipFill>
          <a:blip r:embed="rId1"/>
          <a:stretch>
            <a:fillRect/>
          </a:stretch>
        </p:blipFill>
        <p:spPr>
          <a:xfrm>
            <a:off x="868680" y="1783080"/>
            <a:ext cx="365760" cy="365760"/>
          </a:xfrm>
          <a:prstGeom prst="rect">
            <a:avLst/>
          </a:prstGeom>
        </p:spPr>
      </p:pic>
      <p:sp>
        <p:nvSpPr>
          <p:cNvPr id="11" name="Text 8"/>
          <p:cNvSpPr/>
          <p:nvPr/>
        </p:nvSpPr>
        <p:spPr>
          <a:xfrm>
            <a:off x="1371600" y="1737360"/>
            <a:ext cx="1645920" cy="27432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Desktop App</a:t>
            </a:r>
            <a:endParaRPr lang="en-US" sz="1300" dirty="0"/>
          </a:p>
        </p:txBody>
      </p:sp>
      <p:sp>
        <p:nvSpPr>
          <p:cNvPr id="12" name="Text 9"/>
          <p:cNvSpPr/>
          <p:nvPr/>
        </p:nvSpPr>
        <p:spPr>
          <a:xfrm>
            <a:off x="868680" y="2103120"/>
            <a:ext cx="219456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Drag in a track, get stems. No DAW required.</a:t>
            </a:r>
            <a:endParaRPr lang="en-US" sz="1000" dirty="0"/>
          </a:p>
        </p:txBody>
      </p:sp>
      <p:sp>
        <p:nvSpPr>
          <p:cNvPr id="13" name="Shape 10"/>
          <p:cNvSpPr/>
          <p:nvPr/>
        </p:nvSpPr>
        <p:spPr>
          <a:xfrm>
            <a:off x="3474720" y="1645920"/>
            <a:ext cx="256032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4" name="Image 1" descr="preencoded.png">    </p:cNvPr>
          <p:cNvPicPr>
            <a:picLocks noChangeAspect="1"/>
          </p:cNvPicPr>
          <p:nvPr/>
        </p:nvPicPr>
        <p:blipFill>
          <a:blip r:embed="rId2"/>
          <a:stretch>
            <a:fillRect/>
          </a:stretch>
        </p:blipFill>
        <p:spPr>
          <a:xfrm>
            <a:off x="3703320" y="1783080"/>
            <a:ext cx="365760" cy="365760"/>
          </a:xfrm>
          <a:prstGeom prst="rect">
            <a:avLst/>
          </a:prstGeom>
        </p:spPr>
      </p:pic>
      <p:sp>
        <p:nvSpPr>
          <p:cNvPr id="15" name="Text 11"/>
          <p:cNvSpPr/>
          <p:nvPr/>
        </p:nvSpPr>
        <p:spPr>
          <a:xfrm>
            <a:off x="4206240" y="1737360"/>
            <a:ext cx="1645920" cy="274320"/>
          </a:xfrm>
          <a:prstGeom prst="rect">
            <a:avLst/>
          </a:prstGeom>
          <a:noFill/>
          <a:ln/>
        </p:spPr>
        <p:txBody>
          <a:bodyPr wrap="square" lIns="0" tIns="0" rIns="0" bIns="0" rtlCol="0" anchor="ctr"/>
          <a:lstStyle/>
          <a:p>
            <a:pPr indent="0" marL="0">
              <a:buNone/>
            </a:pPr>
            <a:r>
              <a:rPr lang="en-US" sz="1300" b="1" dirty="0">
                <a:solidFill>
                  <a:srgbClr val="4ADE80"/>
                </a:solidFill>
                <a:latin typeface="Arial" pitchFamily="34" charset="0"/>
                <a:ea typeface="Arial" pitchFamily="34" charset="-122"/>
                <a:cs typeface="Arial" pitchFamily="34" charset="-120"/>
              </a:rPr>
              <a:t>Cloud API</a:t>
            </a:r>
            <a:endParaRPr lang="en-US" sz="1300" dirty="0"/>
          </a:p>
        </p:txBody>
      </p:sp>
      <p:sp>
        <p:nvSpPr>
          <p:cNvPr id="16" name="Text 12"/>
          <p:cNvSpPr/>
          <p:nvPr/>
        </p:nvSpPr>
        <p:spPr>
          <a:xfrm>
            <a:off x="3703320" y="2103120"/>
            <a:ext cx="219456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REST API. Any developer can integrate.</a:t>
            </a:r>
            <a:endParaRPr lang="en-US" sz="1000" dirty="0"/>
          </a:p>
        </p:txBody>
      </p:sp>
      <p:sp>
        <p:nvSpPr>
          <p:cNvPr id="17" name="Shape 13"/>
          <p:cNvSpPr/>
          <p:nvPr/>
        </p:nvSpPr>
        <p:spPr>
          <a:xfrm>
            <a:off x="6309360" y="1645920"/>
            <a:ext cx="2560320" cy="10058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8" name="Image 2" descr="preencoded.png">    </p:cNvPr>
          <p:cNvPicPr>
            <a:picLocks noChangeAspect="1"/>
          </p:cNvPicPr>
          <p:nvPr/>
        </p:nvPicPr>
        <p:blipFill>
          <a:blip r:embed="rId3"/>
          <a:stretch>
            <a:fillRect/>
          </a:stretch>
        </p:blipFill>
        <p:spPr>
          <a:xfrm>
            <a:off x="6537960" y="1783080"/>
            <a:ext cx="365760" cy="365760"/>
          </a:xfrm>
          <a:prstGeom prst="rect">
            <a:avLst/>
          </a:prstGeom>
        </p:spPr>
      </p:pic>
      <p:sp>
        <p:nvSpPr>
          <p:cNvPr id="19" name="Text 14"/>
          <p:cNvSpPr/>
          <p:nvPr/>
        </p:nvSpPr>
        <p:spPr>
          <a:xfrm>
            <a:off x="7040880" y="1737360"/>
            <a:ext cx="1645920" cy="274320"/>
          </a:xfrm>
          <a:prstGeom prst="rect">
            <a:avLst/>
          </a:prstGeom>
          <a:noFill/>
          <a:ln/>
        </p:spPr>
        <p:txBody>
          <a:bodyPr wrap="square" lIns="0" tIns="0" rIns="0" bIns="0" rtlCol="0" anchor="ctr"/>
          <a:lstStyle/>
          <a:p>
            <a:pPr indent="0" marL="0">
              <a:buNone/>
            </a:pPr>
            <a:r>
              <a:rPr lang="en-US" sz="1300" b="1" dirty="0">
                <a:solidFill>
                  <a:srgbClr val="A78BFA"/>
                </a:solidFill>
                <a:latin typeface="Arial" pitchFamily="34" charset="0"/>
                <a:ea typeface="Arial" pitchFamily="34" charset="-122"/>
                <a:cs typeface="Arial" pitchFamily="34" charset="-120"/>
              </a:rPr>
              <a:t>DAW Plugin</a:t>
            </a:r>
            <a:endParaRPr lang="en-US" sz="1300" dirty="0"/>
          </a:p>
        </p:txBody>
      </p:sp>
      <p:sp>
        <p:nvSpPr>
          <p:cNvPr id="20" name="Text 15"/>
          <p:cNvSpPr/>
          <p:nvPr/>
        </p:nvSpPr>
        <p:spPr>
          <a:xfrm>
            <a:off x="6537960" y="2103120"/>
            <a:ext cx="219456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VST3/AU. Never leave your session.</a:t>
            </a:r>
            <a:endParaRPr lang="en-US" sz="1000" dirty="0"/>
          </a:p>
        </p:txBody>
      </p:sp>
      <p:sp>
        <p:nvSpPr>
          <p:cNvPr id="21" name="Text 16"/>
          <p:cNvSpPr/>
          <p:nvPr/>
        </p:nvSpPr>
        <p:spPr>
          <a:xfrm>
            <a:off x="640080" y="2926080"/>
            <a:ext cx="3657600" cy="32004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Revenue Model</a:t>
            </a:r>
            <a:endParaRPr lang="en-US" sz="1600" dirty="0"/>
          </a:p>
        </p:txBody>
      </p:sp>
      <p:sp>
        <p:nvSpPr>
          <p:cNvPr id="22" name="Shape 17"/>
          <p:cNvSpPr/>
          <p:nvPr/>
        </p:nvSpPr>
        <p:spPr>
          <a:xfrm>
            <a:off x="640080" y="3383280"/>
            <a:ext cx="182880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3" name="Text 18"/>
          <p:cNvSpPr/>
          <p:nvPr/>
        </p:nvSpPr>
        <p:spPr>
          <a:xfrm>
            <a:off x="640080" y="3456432"/>
            <a:ext cx="1828800" cy="274320"/>
          </a:xfrm>
          <a:prstGeom prst="rect">
            <a:avLst/>
          </a:prstGeom>
          <a:noFill/>
          <a:ln/>
        </p:spPr>
        <p:txBody>
          <a:bodyPr wrap="square" lIns="0" tIns="0" rIns="0" bIns="0" rtlCol="0" anchor="ctr"/>
          <a:lstStyle/>
          <a:p>
            <a:pPr algn="ctr" indent="0" marL="0">
              <a:buNone/>
            </a:pPr>
            <a:r>
              <a:rPr lang="en-US" sz="1300" b="1" dirty="0">
                <a:solidFill>
                  <a:srgbClr val="F0F0F5"/>
                </a:solidFill>
                <a:latin typeface="Arial" pitchFamily="34" charset="0"/>
                <a:ea typeface="Arial" pitchFamily="34" charset="-122"/>
                <a:cs typeface="Arial" pitchFamily="34" charset="-120"/>
              </a:rPr>
              <a:t>Free</a:t>
            </a:r>
            <a:endParaRPr lang="en-US" sz="1300" dirty="0"/>
          </a:p>
        </p:txBody>
      </p:sp>
      <p:sp>
        <p:nvSpPr>
          <p:cNvPr id="24" name="Text 19"/>
          <p:cNvSpPr/>
          <p:nvPr/>
        </p:nvSpPr>
        <p:spPr>
          <a:xfrm>
            <a:off x="640080" y="3703320"/>
            <a:ext cx="1828800" cy="274320"/>
          </a:xfrm>
          <a:prstGeom prst="rect">
            <a:avLst/>
          </a:prstGeom>
          <a:noFill/>
          <a:ln/>
        </p:spPr>
        <p:txBody>
          <a:bodyPr wrap="square" lIns="0" tIns="0" rIns="0" bIns="0" rtlCol="0" anchor="ctr"/>
          <a:lstStyle/>
          <a:p>
            <a:pPr algn="ctr" indent="0" marL="0">
              <a:buNone/>
            </a:pPr>
            <a:r>
              <a:rPr lang="en-US" sz="1400" b="1" dirty="0">
                <a:solidFill>
                  <a:srgbClr val="4ADE80"/>
                </a:solidFill>
                <a:latin typeface="Arial" pitchFamily="34" charset="0"/>
                <a:ea typeface="Arial" pitchFamily="34" charset="-122"/>
                <a:cs typeface="Arial" pitchFamily="34" charset="-120"/>
              </a:rPr>
              <a:t>3/month</a:t>
            </a:r>
            <a:endParaRPr lang="en-US" sz="1400" dirty="0"/>
          </a:p>
        </p:txBody>
      </p:sp>
      <p:sp>
        <p:nvSpPr>
          <p:cNvPr id="25" name="Text 20"/>
          <p:cNvSpPr/>
          <p:nvPr/>
        </p:nvSpPr>
        <p:spPr>
          <a:xfrm>
            <a:off x="640080" y="3950208"/>
            <a:ext cx="1828800" cy="228600"/>
          </a:xfrm>
          <a:prstGeom prst="rect">
            <a:avLst/>
          </a:prstGeom>
          <a:noFill/>
          <a:ln/>
        </p:spPr>
        <p:txBody>
          <a:bodyPr wrap="square" lIns="0" tIns="0" rIns="0" bIns="0" rtlCol="0" anchor="ctr"/>
          <a:lstStyle/>
          <a:p>
            <a:pPr algn="ctr" indent="0" marL="0">
              <a:buNone/>
            </a:pPr>
            <a:r>
              <a:rPr lang="en-US" sz="900" dirty="0">
                <a:solidFill>
                  <a:srgbClr val="6B6B80"/>
                </a:solidFill>
                <a:latin typeface="Arial" pitchFamily="34" charset="0"/>
                <a:ea typeface="Arial" pitchFamily="34" charset="-122"/>
                <a:cs typeface="Arial" pitchFamily="34" charset="-120"/>
              </a:rPr>
              <a:t>Try the quality</a:t>
            </a:r>
            <a:endParaRPr lang="en-US" sz="900" dirty="0"/>
          </a:p>
        </p:txBody>
      </p:sp>
      <p:sp>
        <p:nvSpPr>
          <p:cNvPr id="26" name="Shape 21"/>
          <p:cNvSpPr/>
          <p:nvPr/>
        </p:nvSpPr>
        <p:spPr>
          <a:xfrm>
            <a:off x="2743200" y="3383280"/>
            <a:ext cx="182880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7" name="Text 22"/>
          <p:cNvSpPr/>
          <p:nvPr/>
        </p:nvSpPr>
        <p:spPr>
          <a:xfrm>
            <a:off x="2743200" y="3456432"/>
            <a:ext cx="1828800" cy="274320"/>
          </a:xfrm>
          <a:prstGeom prst="rect">
            <a:avLst/>
          </a:prstGeom>
          <a:noFill/>
          <a:ln/>
        </p:spPr>
        <p:txBody>
          <a:bodyPr wrap="square" lIns="0" tIns="0" rIns="0" bIns="0" rtlCol="0" anchor="ctr"/>
          <a:lstStyle/>
          <a:p>
            <a:pPr algn="ctr" indent="0" marL="0">
              <a:buNone/>
            </a:pPr>
            <a:r>
              <a:rPr lang="en-US" sz="1300" b="1" dirty="0">
                <a:solidFill>
                  <a:srgbClr val="F0F0F5"/>
                </a:solidFill>
                <a:latin typeface="Arial" pitchFamily="34" charset="0"/>
                <a:ea typeface="Arial" pitchFamily="34" charset="-122"/>
                <a:cs typeface="Arial" pitchFamily="34" charset="-120"/>
              </a:rPr>
              <a:t>Pro</a:t>
            </a:r>
            <a:endParaRPr lang="en-US" sz="1300" dirty="0"/>
          </a:p>
        </p:txBody>
      </p:sp>
      <p:sp>
        <p:nvSpPr>
          <p:cNvPr id="28" name="Text 23"/>
          <p:cNvSpPr/>
          <p:nvPr/>
        </p:nvSpPr>
        <p:spPr>
          <a:xfrm>
            <a:off x="2743200" y="3703320"/>
            <a:ext cx="1828800" cy="274320"/>
          </a:xfrm>
          <a:prstGeom prst="rect">
            <a:avLst/>
          </a:prstGeom>
          <a:noFill/>
          <a:ln/>
        </p:spPr>
        <p:txBody>
          <a:bodyPr wrap="square" lIns="0" tIns="0" rIns="0" bIns="0" rtlCol="0" anchor="ctr"/>
          <a:lstStyle/>
          <a:p>
            <a:pPr algn="ctr" indent="0" marL="0">
              <a:buNone/>
            </a:pPr>
            <a:r>
              <a:rPr lang="en-US" sz="1400" b="1" dirty="0">
                <a:solidFill>
                  <a:srgbClr val="4ADE80"/>
                </a:solidFill>
                <a:latin typeface="Arial" pitchFamily="34" charset="0"/>
                <a:ea typeface="Arial" pitchFamily="34" charset="-122"/>
                <a:cs typeface="Arial" pitchFamily="34" charset="-120"/>
              </a:rPr>
              <a:t>$9.99/mo</a:t>
            </a:r>
            <a:endParaRPr lang="en-US" sz="1400" dirty="0"/>
          </a:p>
        </p:txBody>
      </p:sp>
      <p:sp>
        <p:nvSpPr>
          <p:cNvPr id="29" name="Text 24"/>
          <p:cNvSpPr/>
          <p:nvPr/>
        </p:nvSpPr>
        <p:spPr>
          <a:xfrm>
            <a:off x="2743200" y="3950208"/>
            <a:ext cx="1828800" cy="228600"/>
          </a:xfrm>
          <a:prstGeom prst="rect">
            <a:avLst/>
          </a:prstGeom>
          <a:noFill/>
          <a:ln/>
        </p:spPr>
        <p:txBody>
          <a:bodyPr wrap="square" lIns="0" tIns="0" rIns="0" bIns="0" rtlCol="0" anchor="ctr"/>
          <a:lstStyle/>
          <a:p>
            <a:pPr algn="ctr" indent="0" marL="0">
              <a:buNone/>
            </a:pPr>
            <a:r>
              <a:rPr lang="en-US" sz="900" dirty="0">
                <a:solidFill>
                  <a:srgbClr val="6B6B80"/>
                </a:solidFill>
                <a:latin typeface="Arial" pitchFamily="34" charset="0"/>
                <a:ea typeface="Arial" pitchFamily="34" charset="-122"/>
                <a:cs typeface="Arial" pitchFamily="34" charset="-120"/>
              </a:rPr>
              <a:t>100 separations</a:t>
            </a:r>
            <a:endParaRPr lang="en-US" sz="900" dirty="0"/>
          </a:p>
        </p:txBody>
      </p:sp>
      <p:sp>
        <p:nvSpPr>
          <p:cNvPr id="30" name="Shape 25"/>
          <p:cNvSpPr/>
          <p:nvPr/>
        </p:nvSpPr>
        <p:spPr>
          <a:xfrm>
            <a:off x="4846320" y="3383280"/>
            <a:ext cx="182880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31" name="Text 26"/>
          <p:cNvSpPr/>
          <p:nvPr/>
        </p:nvSpPr>
        <p:spPr>
          <a:xfrm>
            <a:off x="4846320" y="3456432"/>
            <a:ext cx="1828800" cy="274320"/>
          </a:xfrm>
          <a:prstGeom prst="rect">
            <a:avLst/>
          </a:prstGeom>
          <a:noFill/>
          <a:ln/>
        </p:spPr>
        <p:txBody>
          <a:bodyPr wrap="square" lIns="0" tIns="0" rIns="0" bIns="0" rtlCol="0" anchor="ctr"/>
          <a:lstStyle/>
          <a:p>
            <a:pPr algn="ctr" indent="0" marL="0">
              <a:buNone/>
            </a:pPr>
            <a:r>
              <a:rPr lang="en-US" sz="1300" b="1" dirty="0">
                <a:solidFill>
                  <a:srgbClr val="F0F0F5"/>
                </a:solidFill>
                <a:latin typeface="Arial" pitchFamily="34" charset="0"/>
                <a:ea typeface="Arial" pitchFamily="34" charset="-122"/>
                <a:cs typeface="Arial" pitchFamily="34" charset="-120"/>
              </a:rPr>
              <a:t>Studio</a:t>
            </a:r>
            <a:endParaRPr lang="en-US" sz="1300" dirty="0"/>
          </a:p>
        </p:txBody>
      </p:sp>
      <p:sp>
        <p:nvSpPr>
          <p:cNvPr id="32" name="Text 27"/>
          <p:cNvSpPr/>
          <p:nvPr/>
        </p:nvSpPr>
        <p:spPr>
          <a:xfrm>
            <a:off x="4846320" y="3703320"/>
            <a:ext cx="1828800" cy="274320"/>
          </a:xfrm>
          <a:prstGeom prst="rect">
            <a:avLst/>
          </a:prstGeom>
          <a:noFill/>
          <a:ln/>
        </p:spPr>
        <p:txBody>
          <a:bodyPr wrap="square" lIns="0" tIns="0" rIns="0" bIns="0" rtlCol="0" anchor="ctr"/>
          <a:lstStyle/>
          <a:p>
            <a:pPr algn="ctr" indent="0" marL="0">
              <a:buNone/>
            </a:pPr>
            <a:r>
              <a:rPr lang="en-US" sz="1400" b="1" dirty="0">
                <a:solidFill>
                  <a:srgbClr val="4ADE80"/>
                </a:solidFill>
                <a:latin typeface="Arial" pitchFamily="34" charset="0"/>
                <a:ea typeface="Arial" pitchFamily="34" charset="-122"/>
                <a:cs typeface="Arial" pitchFamily="34" charset="-120"/>
              </a:rPr>
              <a:t>$24.99/mo</a:t>
            </a:r>
            <a:endParaRPr lang="en-US" sz="1400" dirty="0"/>
          </a:p>
        </p:txBody>
      </p:sp>
      <p:sp>
        <p:nvSpPr>
          <p:cNvPr id="33" name="Text 28"/>
          <p:cNvSpPr/>
          <p:nvPr/>
        </p:nvSpPr>
        <p:spPr>
          <a:xfrm>
            <a:off x="4846320" y="3950208"/>
            <a:ext cx="1828800" cy="228600"/>
          </a:xfrm>
          <a:prstGeom prst="rect">
            <a:avLst/>
          </a:prstGeom>
          <a:noFill/>
          <a:ln/>
        </p:spPr>
        <p:txBody>
          <a:bodyPr wrap="square" lIns="0" tIns="0" rIns="0" bIns="0" rtlCol="0" anchor="ctr"/>
          <a:lstStyle/>
          <a:p>
            <a:pPr algn="ctr" indent="0" marL="0">
              <a:buNone/>
            </a:pPr>
            <a:r>
              <a:rPr lang="en-US" sz="900" dirty="0">
                <a:solidFill>
                  <a:srgbClr val="6B6B80"/>
                </a:solidFill>
                <a:latin typeface="Arial" pitchFamily="34" charset="0"/>
                <a:ea typeface="Arial" pitchFamily="34" charset="-122"/>
                <a:cs typeface="Arial" pitchFamily="34" charset="-120"/>
              </a:rPr>
              <a:t>500 + DAW plugin</a:t>
            </a:r>
            <a:endParaRPr lang="en-US" sz="900" dirty="0"/>
          </a:p>
        </p:txBody>
      </p:sp>
      <p:sp>
        <p:nvSpPr>
          <p:cNvPr id="34" name="Shape 29"/>
          <p:cNvSpPr/>
          <p:nvPr/>
        </p:nvSpPr>
        <p:spPr>
          <a:xfrm>
            <a:off x="6949440" y="3383280"/>
            <a:ext cx="1828800" cy="91440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35" name="Text 30"/>
          <p:cNvSpPr/>
          <p:nvPr/>
        </p:nvSpPr>
        <p:spPr>
          <a:xfrm>
            <a:off x="6949440" y="3456432"/>
            <a:ext cx="1828800" cy="274320"/>
          </a:xfrm>
          <a:prstGeom prst="rect">
            <a:avLst/>
          </a:prstGeom>
          <a:noFill/>
          <a:ln/>
        </p:spPr>
        <p:txBody>
          <a:bodyPr wrap="square" lIns="0" tIns="0" rIns="0" bIns="0" rtlCol="0" anchor="ctr"/>
          <a:lstStyle/>
          <a:p>
            <a:pPr algn="ctr" indent="0" marL="0">
              <a:buNone/>
            </a:pPr>
            <a:r>
              <a:rPr lang="en-US" sz="1300" b="1" dirty="0">
                <a:solidFill>
                  <a:srgbClr val="F0F0F5"/>
                </a:solidFill>
                <a:latin typeface="Arial" pitchFamily="34" charset="0"/>
                <a:ea typeface="Arial" pitchFamily="34" charset="-122"/>
                <a:cs typeface="Arial" pitchFamily="34" charset="-120"/>
              </a:rPr>
              <a:t>API</a:t>
            </a:r>
            <a:endParaRPr lang="en-US" sz="1300" dirty="0"/>
          </a:p>
        </p:txBody>
      </p:sp>
      <p:sp>
        <p:nvSpPr>
          <p:cNvPr id="36" name="Text 31"/>
          <p:cNvSpPr/>
          <p:nvPr/>
        </p:nvSpPr>
        <p:spPr>
          <a:xfrm>
            <a:off x="6949440" y="3703320"/>
            <a:ext cx="1828800" cy="274320"/>
          </a:xfrm>
          <a:prstGeom prst="rect">
            <a:avLst/>
          </a:prstGeom>
          <a:noFill/>
          <a:ln/>
        </p:spPr>
        <p:txBody>
          <a:bodyPr wrap="square" lIns="0" tIns="0" rIns="0" bIns="0" rtlCol="0" anchor="ctr"/>
          <a:lstStyle/>
          <a:p>
            <a:pPr algn="ctr" indent="0" marL="0">
              <a:buNone/>
            </a:pPr>
            <a:r>
              <a:rPr lang="en-US" sz="1400" b="1" dirty="0">
                <a:solidFill>
                  <a:srgbClr val="4ADE80"/>
                </a:solidFill>
                <a:latin typeface="Arial" pitchFamily="34" charset="0"/>
                <a:ea typeface="Arial" pitchFamily="34" charset="-122"/>
                <a:cs typeface="Arial" pitchFamily="34" charset="-120"/>
              </a:rPr>
              <a:t>$0.05/sep</a:t>
            </a:r>
            <a:endParaRPr lang="en-US" sz="1400" dirty="0"/>
          </a:p>
        </p:txBody>
      </p:sp>
      <p:sp>
        <p:nvSpPr>
          <p:cNvPr id="37" name="Text 32"/>
          <p:cNvSpPr/>
          <p:nvPr/>
        </p:nvSpPr>
        <p:spPr>
          <a:xfrm>
            <a:off x="6949440" y="3950208"/>
            <a:ext cx="1828800" cy="228600"/>
          </a:xfrm>
          <a:prstGeom prst="rect">
            <a:avLst/>
          </a:prstGeom>
          <a:noFill/>
          <a:ln/>
        </p:spPr>
        <p:txBody>
          <a:bodyPr wrap="square" lIns="0" tIns="0" rIns="0" bIns="0" rtlCol="0" anchor="ctr"/>
          <a:lstStyle/>
          <a:p>
            <a:pPr algn="ctr" indent="0" marL="0">
              <a:buNone/>
            </a:pPr>
            <a:r>
              <a:rPr lang="en-US" sz="900" dirty="0">
                <a:solidFill>
                  <a:srgbClr val="6B6B80"/>
                </a:solidFill>
                <a:latin typeface="Arial" pitchFamily="34" charset="0"/>
                <a:ea typeface="Arial" pitchFamily="34" charset="-122"/>
                <a:cs typeface="Arial" pitchFamily="34" charset="-120"/>
              </a:rPr>
              <a:t>Developers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13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Go-To-Market Strategy</a:t>
            </a:r>
            <a:endParaRPr lang="en-US" sz="3600" dirty="0"/>
          </a:p>
        </p:txBody>
      </p:sp>
      <p:sp>
        <p:nvSpPr>
          <p:cNvPr id="7" name="Text 5"/>
          <p:cNvSpPr/>
          <p:nvPr/>
        </p:nvSpPr>
        <p:spPr>
          <a:xfrm>
            <a:off x="640080" y="914400"/>
            <a:ext cx="7863840" cy="32004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Organic growth through our network. No ad spend. Real users, real feedback.</a:t>
            </a:r>
            <a:endParaRPr lang="en-US" sz="1300" dirty="0"/>
          </a:p>
        </p:txBody>
      </p:sp>
      <p:sp>
        <p:nvSpPr>
          <p:cNvPr id="8" name="Shape 6"/>
          <p:cNvSpPr/>
          <p:nvPr/>
        </p:nvSpPr>
        <p:spPr>
          <a:xfrm>
            <a:off x="640080" y="1417320"/>
            <a:ext cx="7863840" cy="7315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9" name="Shape 7"/>
          <p:cNvSpPr/>
          <p:nvPr/>
        </p:nvSpPr>
        <p:spPr>
          <a:xfrm>
            <a:off x="777240" y="1554480"/>
            <a:ext cx="411480" cy="411480"/>
          </a:xfrm>
          <a:prstGeom prst="oval">
            <a:avLst/>
          </a:prstGeom>
          <a:solidFill>
            <a:srgbClr val="E8A230"/>
          </a:solidFill>
          <a:ln/>
        </p:spPr>
      </p:sp>
      <p:sp>
        <p:nvSpPr>
          <p:cNvPr id="10" name="Text 8"/>
          <p:cNvSpPr/>
          <p:nvPr/>
        </p:nvSpPr>
        <p:spPr>
          <a:xfrm>
            <a:off x="777240" y="1554480"/>
            <a:ext cx="411480" cy="411480"/>
          </a:xfrm>
          <a:prstGeom prst="rect">
            <a:avLst/>
          </a:prstGeom>
          <a:noFill/>
          <a:ln/>
        </p:spPr>
        <p:txBody>
          <a:bodyPr wrap="square" lIns="0" tIns="0" rIns="0" bIns="0" rtlCol="0" anchor="ctr"/>
          <a:lstStyle/>
          <a:p>
            <a:pPr algn="ctr" indent="0" marL="0">
              <a:buNone/>
            </a:pPr>
            <a:r>
              <a:rPr lang="en-US" sz="1600" dirty="0">
                <a:solidFill>
                  <a:srgbClr val="0A0A10"/>
                </a:solidFill>
                <a:latin typeface="Arial Black" pitchFamily="34" charset="0"/>
                <a:ea typeface="Arial Black" pitchFamily="34" charset="-122"/>
                <a:cs typeface="Arial Black" pitchFamily="34" charset="-120"/>
              </a:rPr>
              <a:t>1</a:t>
            </a:r>
            <a:endParaRPr lang="en-US" sz="1600" dirty="0"/>
          </a:p>
        </p:txBody>
      </p:sp>
      <p:sp>
        <p:nvSpPr>
          <p:cNvPr id="11" name="Text 9"/>
          <p:cNvSpPr/>
          <p:nvPr/>
        </p:nvSpPr>
        <p:spPr>
          <a:xfrm>
            <a:off x="1371600" y="1463040"/>
            <a:ext cx="2743200" cy="274320"/>
          </a:xfrm>
          <a:prstGeom prst="rect">
            <a:avLst/>
          </a:prstGeom>
          <a:noFill/>
          <a:ln/>
        </p:spPr>
        <p:txBody>
          <a:bodyPr wrap="square" lIns="0" tIns="0" rIns="0" bIns="0" rtlCol="0" anchor="ctr"/>
          <a:lstStyle/>
          <a:p>
            <a:pPr indent="0" marL="0">
              <a:buNone/>
            </a:pPr>
            <a:r>
              <a:rPr lang="en-US" sz="1400" b="1" dirty="0">
                <a:solidFill>
                  <a:srgbClr val="E8A230"/>
                </a:solidFill>
                <a:latin typeface="Arial" pitchFamily="34" charset="0"/>
                <a:ea typeface="Arial" pitchFamily="34" charset="-122"/>
                <a:cs typeface="Arial" pitchFamily="34" charset="-120"/>
              </a:rPr>
              <a:t>Inner Circle Beta</a:t>
            </a:r>
            <a:endParaRPr lang="en-US" sz="1400" dirty="0"/>
          </a:p>
        </p:txBody>
      </p:sp>
      <p:sp>
        <p:nvSpPr>
          <p:cNvPr id="12" name="Text 10"/>
          <p:cNvSpPr/>
          <p:nvPr/>
        </p:nvSpPr>
        <p:spPr>
          <a:xfrm>
            <a:off x="1371600" y="1709928"/>
            <a:ext cx="68580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Fraternity brothers, B2B DJs, friends who produce. 20-30 users testing the product, giving honest feedback. We iterate fast based on real usage. This is where we find the bugs and the features we didn't think of.</a:t>
            </a:r>
            <a:endParaRPr lang="en-US" sz="1000" dirty="0"/>
          </a:p>
        </p:txBody>
      </p:sp>
      <p:sp>
        <p:nvSpPr>
          <p:cNvPr id="13" name="Shape 11"/>
          <p:cNvSpPr/>
          <p:nvPr/>
        </p:nvSpPr>
        <p:spPr>
          <a:xfrm>
            <a:off x="640080" y="2286000"/>
            <a:ext cx="7863840" cy="7315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4" name="Shape 12"/>
          <p:cNvSpPr/>
          <p:nvPr/>
        </p:nvSpPr>
        <p:spPr>
          <a:xfrm>
            <a:off x="777240" y="2423160"/>
            <a:ext cx="411480" cy="411480"/>
          </a:xfrm>
          <a:prstGeom prst="oval">
            <a:avLst/>
          </a:prstGeom>
          <a:solidFill>
            <a:srgbClr val="38BDF8"/>
          </a:solidFill>
          <a:ln/>
        </p:spPr>
      </p:sp>
      <p:sp>
        <p:nvSpPr>
          <p:cNvPr id="15" name="Text 13"/>
          <p:cNvSpPr/>
          <p:nvPr/>
        </p:nvSpPr>
        <p:spPr>
          <a:xfrm>
            <a:off x="777240" y="2423160"/>
            <a:ext cx="411480" cy="411480"/>
          </a:xfrm>
          <a:prstGeom prst="rect">
            <a:avLst/>
          </a:prstGeom>
          <a:noFill/>
          <a:ln/>
        </p:spPr>
        <p:txBody>
          <a:bodyPr wrap="square" lIns="0" tIns="0" rIns="0" bIns="0" rtlCol="0" anchor="ctr"/>
          <a:lstStyle/>
          <a:p>
            <a:pPr algn="ctr" indent="0" marL="0">
              <a:buNone/>
            </a:pPr>
            <a:r>
              <a:rPr lang="en-US" sz="1600" dirty="0">
                <a:solidFill>
                  <a:srgbClr val="0A0A10"/>
                </a:solidFill>
                <a:latin typeface="Arial Black" pitchFamily="34" charset="0"/>
                <a:ea typeface="Arial Black" pitchFamily="34" charset="-122"/>
                <a:cs typeface="Arial Black" pitchFamily="34" charset="-120"/>
              </a:rPr>
              <a:t>2</a:t>
            </a:r>
            <a:endParaRPr lang="en-US" sz="1600" dirty="0"/>
          </a:p>
        </p:txBody>
      </p:sp>
      <p:sp>
        <p:nvSpPr>
          <p:cNvPr id="16" name="Text 14"/>
          <p:cNvSpPr/>
          <p:nvPr/>
        </p:nvSpPr>
        <p:spPr>
          <a:xfrm>
            <a:off x="1371600" y="2331720"/>
            <a:ext cx="2743200" cy="27432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Expanded Beta</a:t>
            </a:r>
            <a:endParaRPr lang="en-US" sz="1400" dirty="0"/>
          </a:p>
        </p:txBody>
      </p:sp>
      <p:sp>
        <p:nvSpPr>
          <p:cNvPr id="17" name="Text 15"/>
          <p:cNvSpPr/>
          <p:nvPr/>
        </p:nvSpPr>
        <p:spPr>
          <a:xfrm>
            <a:off x="1371600" y="2578608"/>
            <a:ext cx="68580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Friends of friends, local DJ community, producers in our extended network. 100+ users. Start collecting testimonials. Refine the onboarding experience. Build the product people can't stop talking about.</a:t>
            </a:r>
            <a:endParaRPr lang="en-US" sz="1000" dirty="0"/>
          </a:p>
        </p:txBody>
      </p:sp>
      <p:sp>
        <p:nvSpPr>
          <p:cNvPr id="18" name="Shape 16"/>
          <p:cNvSpPr/>
          <p:nvPr/>
        </p:nvSpPr>
        <p:spPr>
          <a:xfrm>
            <a:off x="640080" y="3154680"/>
            <a:ext cx="7863840" cy="7315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9" name="Shape 17"/>
          <p:cNvSpPr/>
          <p:nvPr/>
        </p:nvSpPr>
        <p:spPr>
          <a:xfrm>
            <a:off x="777240" y="3291840"/>
            <a:ext cx="411480" cy="411480"/>
          </a:xfrm>
          <a:prstGeom prst="oval">
            <a:avLst/>
          </a:prstGeom>
          <a:solidFill>
            <a:srgbClr val="4ADE80"/>
          </a:solidFill>
          <a:ln/>
        </p:spPr>
      </p:sp>
      <p:sp>
        <p:nvSpPr>
          <p:cNvPr id="20" name="Text 18"/>
          <p:cNvSpPr/>
          <p:nvPr/>
        </p:nvSpPr>
        <p:spPr>
          <a:xfrm>
            <a:off x="777240" y="3291840"/>
            <a:ext cx="411480" cy="411480"/>
          </a:xfrm>
          <a:prstGeom prst="rect">
            <a:avLst/>
          </a:prstGeom>
          <a:noFill/>
          <a:ln/>
        </p:spPr>
        <p:txBody>
          <a:bodyPr wrap="square" lIns="0" tIns="0" rIns="0" bIns="0" rtlCol="0" anchor="ctr"/>
          <a:lstStyle/>
          <a:p>
            <a:pPr algn="ctr" indent="0" marL="0">
              <a:buNone/>
            </a:pPr>
            <a:r>
              <a:rPr lang="en-US" sz="1600" dirty="0">
                <a:solidFill>
                  <a:srgbClr val="0A0A10"/>
                </a:solidFill>
                <a:latin typeface="Arial Black" pitchFamily="34" charset="0"/>
                <a:ea typeface="Arial Black" pitchFamily="34" charset="-122"/>
                <a:cs typeface="Arial Black" pitchFamily="34" charset="-120"/>
              </a:rPr>
              <a:t>3</a:t>
            </a:r>
            <a:endParaRPr lang="en-US" sz="1600" dirty="0"/>
          </a:p>
        </p:txBody>
      </p:sp>
      <p:sp>
        <p:nvSpPr>
          <p:cNvPr id="21" name="Text 19"/>
          <p:cNvSpPr/>
          <p:nvPr/>
        </p:nvSpPr>
        <p:spPr>
          <a:xfrm>
            <a:off x="1371600" y="3200400"/>
            <a:ext cx="2743200" cy="274320"/>
          </a:xfrm>
          <a:prstGeom prst="rect">
            <a:avLst/>
          </a:prstGeom>
          <a:noFill/>
          <a:ln/>
        </p:spPr>
        <p:txBody>
          <a:bodyPr wrap="square" lIns="0" tIns="0" rIns="0" bIns="0" rtlCol="0" anchor="ctr"/>
          <a:lstStyle/>
          <a:p>
            <a:pPr indent="0" marL="0">
              <a:buNone/>
            </a:pPr>
            <a:r>
              <a:rPr lang="en-US" sz="1400" b="1" dirty="0">
                <a:solidFill>
                  <a:srgbClr val="4ADE80"/>
                </a:solidFill>
                <a:latin typeface="Arial" pitchFamily="34" charset="0"/>
                <a:ea typeface="Arial" pitchFamily="34" charset="-122"/>
                <a:cs typeface="Arial" pitchFamily="34" charset="-120"/>
              </a:rPr>
              <a:t>Industry Push</a:t>
            </a:r>
            <a:endParaRPr lang="en-US" sz="1400" dirty="0"/>
          </a:p>
        </p:txBody>
      </p:sp>
      <p:sp>
        <p:nvSpPr>
          <p:cNvPr id="22" name="Text 20"/>
          <p:cNvSpPr/>
          <p:nvPr/>
        </p:nvSpPr>
        <p:spPr>
          <a:xfrm>
            <a:off x="1371600" y="3447288"/>
            <a:ext cx="68580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Leverage Frankie's connections and our network to get BeatBrain in front of established artists. Artist endorsements, event presence, music school partnerships. A known DJ using BeatBrain is worth more than any ad.</a:t>
            </a:r>
            <a:endParaRPr lang="en-US" sz="1000" dirty="0"/>
          </a:p>
        </p:txBody>
      </p:sp>
      <p:sp>
        <p:nvSpPr>
          <p:cNvPr id="23" name="Shape 21"/>
          <p:cNvSpPr/>
          <p:nvPr/>
        </p:nvSpPr>
        <p:spPr>
          <a:xfrm>
            <a:off x="640080" y="4023360"/>
            <a:ext cx="7863840" cy="7315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24" name="Shape 22"/>
          <p:cNvSpPr/>
          <p:nvPr/>
        </p:nvSpPr>
        <p:spPr>
          <a:xfrm>
            <a:off x="777240" y="4160520"/>
            <a:ext cx="411480" cy="411480"/>
          </a:xfrm>
          <a:prstGeom prst="oval">
            <a:avLst/>
          </a:prstGeom>
          <a:solidFill>
            <a:srgbClr val="A78BFA"/>
          </a:solidFill>
          <a:ln/>
        </p:spPr>
      </p:sp>
      <p:sp>
        <p:nvSpPr>
          <p:cNvPr id="25" name="Text 23"/>
          <p:cNvSpPr/>
          <p:nvPr/>
        </p:nvSpPr>
        <p:spPr>
          <a:xfrm>
            <a:off x="777240" y="4160520"/>
            <a:ext cx="411480" cy="411480"/>
          </a:xfrm>
          <a:prstGeom prst="rect">
            <a:avLst/>
          </a:prstGeom>
          <a:noFill/>
          <a:ln/>
        </p:spPr>
        <p:txBody>
          <a:bodyPr wrap="square" lIns="0" tIns="0" rIns="0" bIns="0" rtlCol="0" anchor="ctr"/>
          <a:lstStyle/>
          <a:p>
            <a:pPr algn="ctr" indent="0" marL="0">
              <a:buNone/>
            </a:pPr>
            <a:r>
              <a:rPr lang="en-US" sz="1600" dirty="0">
                <a:solidFill>
                  <a:srgbClr val="0A0A10"/>
                </a:solidFill>
                <a:latin typeface="Arial Black" pitchFamily="34" charset="0"/>
                <a:ea typeface="Arial Black" pitchFamily="34" charset="-122"/>
                <a:cs typeface="Arial Black" pitchFamily="34" charset="-120"/>
              </a:rPr>
              <a:t>4</a:t>
            </a:r>
            <a:endParaRPr lang="en-US" sz="1600" dirty="0"/>
          </a:p>
        </p:txBody>
      </p:sp>
      <p:sp>
        <p:nvSpPr>
          <p:cNvPr id="26" name="Text 24"/>
          <p:cNvSpPr/>
          <p:nvPr/>
        </p:nvSpPr>
        <p:spPr>
          <a:xfrm>
            <a:off x="1371600" y="4069080"/>
            <a:ext cx="2743200" cy="274320"/>
          </a:xfrm>
          <a:prstGeom prst="rect">
            <a:avLst/>
          </a:prstGeom>
          <a:noFill/>
          <a:ln/>
        </p:spPr>
        <p:txBody>
          <a:bodyPr wrap="square" lIns="0" tIns="0" rIns="0" bIns="0" rtlCol="0" anchor="ctr"/>
          <a:lstStyle/>
          <a:p>
            <a:pPr indent="0" marL="0">
              <a:buNone/>
            </a:pPr>
            <a:r>
              <a:rPr lang="en-US" sz="1400" b="1" dirty="0">
                <a:solidFill>
                  <a:srgbClr val="A78BFA"/>
                </a:solidFill>
                <a:latin typeface="Arial" pitchFamily="34" charset="0"/>
                <a:ea typeface="Arial" pitchFamily="34" charset="-122"/>
                <a:cs typeface="Arial" pitchFamily="34" charset="-120"/>
              </a:rPr>
              <a:t>Public Launch</a:t>
            </a:r>
            <a:endParaRPr lang="en-US" sz="1400" dirty="0"/>
          </a:p>
        </p:txBody>
      </p:sp>
      <p:sp>
        <p:nvSpPr>
          <p:cNvPr id="27" name="Text 25"/>
          <p:cNvSpPr/>
          <p:nvPr/>
        </p:nvSpPr>
        <p:spPr>
          <a:xfrm>
            <a:off x="1371600" y="4315968"/>
            <a:ext cx="68580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Product Hunt, Reddit (r/edmproduction, r/WeAreTheMusicMakers), music production forums. The product is polished, we have testimonials and artist co-signs, and the brand is ready.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14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The Team</a:t>
            </a:r>
            <a:endParaRPr lang="en-US" sz="3600" dirty="0"/>
          </a:p>
        </p:txBody>
      </p:sp>
      <p:sp>
        <p:nvSpPr>
          <p:cNvPr id="7" name="Text 5"/>
          <p:cNvSpPr/>
          <p:nvPr/>
        </p:nvSpPr>
        <p:spPr>
          <a:xfrm>
            <a:off x="640080" y="914400"/>
            <a:ext cx="7863840" cy="32004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Three people. Three distinct strengths. No overlap.</a:t>
            </a:r>
            <a:endParaRPr lang="en-US" sz="1300" dirty="0"/>
          </a:p>
        </p:txBody>
      </p:sp>
      <p:sp>
        <p:nvSpPr>
          <p:cNvPr id="8" name="Shape 6"/>
          <p:cNvSpPr/>
          <p:nvPr/>
        </p:nvSpPr>
        <p:spPr>
          <a:xfrm>
            <a:off x="640080" y="1463040"/>
            <a:ext cx="2560320" cy="292608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9" name="Shape 7"/>
          <p:cNvSpPr/>
          <p:nvPr/>
        </p:nvSpPr>
        <p:spPr>
          <a:xfrm>
            <a:off x="640080" y="1463040"/>
            <a:ext cx="2560320" cy="54864"/>
          </a:xfrm>
          <a:prstGeom prst="rectangle">
            <a:avLst/>
          </a:prstGeom>
          <a:solidFill>
            <a:srgbClr val="E8A230"/>
          </a:solidFill>
          <a:ln/>
        </p:spPr>
      </p:sp>
      <p:sp>
        <p:nvSpPr>
          <p:cNvPr id="10" name="Text 8"/>
          <p:cNvSpPr/>
          <p:nvPr/>
        </p:nvSpPr>
        <p:spPr>
          <a:xfrm>
            <a:off x="822960" y="1645920"/>
            <a:ext cx="2194560" cy="32004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Will Andrews</a:t>
            </a:r>
            <a:endParaRPr lang="en-US" sz="1600" dirty="0"/>
          </a:p>
        </p:txBody>
      </p:sp>
      <p:sp>
        <p:nvSpPr>
          <p:cNvPr id="11" name="Text 9"/>
          <p:cNvSpPr/>
          <p:nvPr/>
        </p:nvSpPr>
        <p:spPr>
          <a:xfrm>
            <a:off x="822960" y="1965960"/>
            <a:ext cx="2194560" cy="228600"/>
          </a:xfrm>
          <a:prstGeom prst="rect">
            <a:avLst/>
          </a:prstGeom>
          <a:noFill/>
          <a:ln/>
        </p:spPr>
        <p:txBody>
          <a:bodyPr wrap="square" lIns="0" tIns="0" rIns="0" bIns="0" rtlCol="0" anchor="ctr"/>
          <a:lstStyle/>
          <a:p>
            <a:pPr indent="0" marL="0">
              <a:buNone/>
            </a:pPr>
            <a:r>
              <a:rPr lang="en-US" sz="1100" i="1" dirty="0">
                <a:solidFill>
                  <a:srgbClr val="6B6B80"/>
                </a:solidFill>
                <a:latin typeface="Arial" pitchFamily="34" charset="0"/>
                <a:ea typeface="Arial" pitchFamily="34" charset="-122"/>
                <a:cs typeface="Arial" pitchFamily="34" charset="-120"/>
              </a:rPr>
              <a:t>Product &amp; Engineering</a:t>
            </a:r>
            <a:endParaRPr lang="en-US" sz="1100" dirty="0"/>
          </a:p>
        </p:txBody>
      </p:sp>
      <p:sp>
        <p:nvSpPr>
          <p:cNvPr id="12" name="Text 10"/>
          <p:cNvSpPr/>
          <p:nvPr/>
        </p:nvSpPr>
        <p:spPr>
          <a:xfrm>
            <a:off x="822960" y="2331720"/>
            <a:ext cx="2194560" cy="1828800"/>
          </a:xfrm>
          <a:prstGeom prst="rect">
            <a:avLst/>
          </a:prstGeom>
          <a:noFill/>
          <a:ln/>
        </p:spPr>
        <p:txBody>
          <a:bodyPr wrap="square" rtlCol="0" anchor="ctr"/>
          <a:lstStyle/>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Built the entire product</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CS student + active DJ</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Deep production expertise</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Technical architecture</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AI integration + knowledge engine</a:t>
            </a:r>
            <a:endParaRPr lang="en-US" sz="1000" dirty="0"/>
          </a:p>
        </p:txBody>
      </p:sp>
      <p:sp>
        <p:nvSpPr>
          <p:cNvPr id="13" name="Shape 11"/>
          <p:cNvSpPr/>
          <p:nvPr/>
        </p:nvSpPr>
        <p:spPr>
          <a:xfrm>
            <a:off x="3291840" y="1463040"/>
            <a:ext cx="2560320" cy="292608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4" name="Shape 12"/>
          <p:cNvSpPr/>
          <p:nvPr/>
        </p:nvSpPr>
        <p:spPr>
          <a:xfrm>
            <a:off x="3291840" y="1463040"/>
            <a:ext cx="2560320" cy="54864"/>
          </a:xfrm>
          <a:prstGeom prst="rectangle">
            <a:avLst/>
          </a:prstGeom>
          <a:solidFill>
            <a:srgbClr val="38BDF8"/>
          </a:solidFill>
          <a:ln/>
        </p:spPr>
      </p:sp>
      <p:sp>
        <p:nvSpPr>
          <p:cNvPr id="15" name="Text 13"/>
          <p:cNvSpPr/>
          <p:nvPr/>
        </p:nvSpPr>
        <p:spPr>
          <a:xfrm>
            <a:off x="3474720" y="1645920"/>
            <a:ext cx="2194560" cy="320040"/>
          </a:xfrm>
          <a:prstGeom prst="rect">
            <a:avLst/>
          </a:prstGeom>
          <a:noFill/>
          <a:ln/>
        </p:spPr>
        <p:txBody>
          <a:bodyPr wrap="square" lIns="0" tIns="0" rIns="0" bIns="0" rtlCol="0" anchor="ctr"/>
          <a:lstStyle/>
          <a:p>
            <a:pPr indent="0" marL="0">
              <a:buNone/>
            </a:pPr>
            <a:r>
              <a:rPr lang="en-US" sz="1600" b="1" dirty="0">
                <a:solidFill>
                  <a:srgbClr val="38BDF8"/>
                </a:solidFill>
                <a:latin typeface="Arial" pitchFamily="34" charset="0"/>
                <a:ea typeface="Arial" pitchFamily="34" charset="-122"/>
                <a:cs typeface="Arial" pitchFamily="34" charset="-120"/>
              </a:rPr>
              <a:t>Joe Ciarletta</a:t>
            </a:r>
            <a:endParaRPr lang="en-US" sz="1600" dirty="0"/>
          </a:p>
        </p:txBody>
      </p:sp>
      <p:sp>
        <p:nvSpPr>
          <p:cNvPr id="16" name="Text 14"/>
          <p:cNvSpPr/>
          <p:nvPr/>
        </p:nvSpPr>
        <p:spPr>
          <a:xfrm>
            <a:off x="3474720" y="1965960"/>
            <a:ext cx="2194560" cy="228600"/>
          </a:xfrm>
          <a:prstGeom prst="rect">
            <a:avLst/>
          </a:prstGeom>
          <a:noFill/>
          <a:ln/>
        </p:spPr>
        <p:txBody>
          <a:bodyPr wrap="square" lIns="0" tIns="0" rIns="0" bIns="0" rtlCol="0" anchor="ctr"/>
          <a:lstStyle/>
          <a:p>
            <a:pPr indent="0" marL="0">
              <a:buNone/>
            </a:pPr>
            <a:r>
              <a:rPr lang="en-US" sz="1100" i="1" dirty="0">
                <a:solidFill>
                  <a:srgbClr val="6B6B80"/>
                </a:solidFill>
                <a:latin typeface="Arial" pitchFamily="34" charset="0"/>
                <a:ea typeface="Arial" pitchFamily="34" charset="-122"/>
                <a:cs typeface="Arial" pitchFamily="34" charset="-120"/>
              </a:rPr>
              <a:t>Brand &amp; Business Development</a:t>
            </a:r>
            <a:endParaRPr lang="en-US" sz="1100" dirty="0"/>
          </a:p>
        </p:txBody>
      </p:sp>
      <p:sp>
        <p:nvSpPr>
          <p:cNvPr id="17" name="Text 15"/>
          <p:cNvSpPr/>
          <p:nvPr/>
        </p:nvSpPr>
        <p:spPr>
          <a:xfrm>
            <a:off x="3474720" y="2331720"/>
            <a:ext cx="2194560" cy="1828800"/>
          </a:xfrm>
          <a:prstGeom prst="rect">
            <a:avLst/>
          </a:prstGeom>
          <a:noFill/>
          <a:ln/>
        </p:spPr>
        <p:txBody>
          <a:bodyPr wrap="square" rtlCol="0" anchor="ctr"/>
          <a:lstStyle/>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Brand identity + design direction</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Business pitches + partnerships</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Go-to-market execution</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Co-owner: Holy Ghost, B2B</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Industry expertise + network</a:t>
            </a:r>
            <a:endParaRPr lang="en-US" sz="1000" dirty="0"/>
          </a:p>
        </p:txBody>
      </p:sp>
      <p:sp>
        <p:nvSpPr>
          <p:cNvPr id="18" name="Shape 16"/>
          <p:cNvSpPr/>
          <p:nvPr/>
        </p:nvSpPr>
        <p:spPr>
          <a:xfrm>
            <a:off x="5943600" y="1463040"/>
            <a:ext cx="2560320" cy="292608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9" name="Shape 17"/>
          <p:cNvSpPr/>
          <p:nvPr/>
        </p:nvSpPr>
        <p:spPr>
          <a:xfrm>
            <a:off x="5943600" y="1463040"/>
            <a:ext cx="2560320" cy="54864"/>
          </a:xfrm>
          <a:prstGeom prst="rectangle">
            <a:avLst/>
          </a:prstGeom>
          <a:solidFill>
            <a:srgbClr val="A78BFA"/>
          </a:solidFill>
          <a:ln/>
        </p:spPr>
      </p:sp>
      <p:sp>
        <p:nvSpPr>
          <p:cNvPr id="20" name="Text 18"/>
          <p:cNvSpPr/>
          <p:nvPr/>
        </p:nvSpPr>
        <p:spPr>
          <a:xfrm>
            <a:off x="6126480" y="1645920"/>
            <a:ext cx="2194560" cy="320040"/>
          </a:xfrm>
          <a:prstGeom prst="rect">
            <a:avLst/>
          </a:prstGeom>
          <a:noFill/>
          <a:ln/>
        </p:spPr>
        <p:txBody>
          <a:bodyPr wrap="square" lIns="0" tIns="0" rIns="0" bIns="0" rtlCol="0" anchor="ctr"/>
          <a:lstStyle/>
          <a:p>
            <a:pPr indent="0" marL="0">
              <a:buNone/>
            </a:pPr>
            <a:r>
              <a:rPr lang="en-US" sz="1600" b="1" dirty="0">
                <a:solidFill>
                  <a:srgbClr val="A78BFA"/>
                </a:solidFill>
                <a:latin typeface="Arial" pitchFamily="34" charset="0"/>
                <a:ea typeface="Arial" pitchFamily="34" charset="-122"/>
                <a:cs typeface="Arial" pitchFamily="34" charset="-120"/>
              </a:rPr>
              <a:t>Frankie Dedio</a:t>
            </a:r>
            <a:endParaRPr lang="en-US" sz="1600" dirty="0"/>
          </a:p>
        </p:txBody>
      </p:sp>
      <p:sp>
        <p:nvSpPr>
          <p:cNvPr id="21" name="Text 19"/>
          <p:cNvSpPr/>
          <p:nvPr/>
        </p:nvSpPr>
        <p:spPr>
          <a:xfrm>
            <a:off x="6126480" y="1965960"/>
            <a:ext cx="2194560" cy="228600"/>
          </a:xfrm>
          <a:prstGeom prst="rect">
            <a:avLst/>
          </a:prstGeom>
          <a:noFill/>
          <a:ln/>
        </p:spPr>
        <p:txBody>
          <a:bodyPr wrap="square" lIns="0" tIns="0" rIns="0" bIns="0" rtlCol="0" anchor="ctr"/>
          <a:lstStyle/>
          <a:p>
            <a:pPr indent="0" marL="0">
              <a:buNone/>
            </a:pPr>
            <a:r>
              <a:rPr lang="en-US" sz="1100" i="1" dirty="0">
                <a:solidFill>
                  <a:srgbClr val="6B6B80"/>
                </a:solidFill>
                <a:latin typeface="Arial" pitchFamily="34" charset="0"/>
                <a:ea typeface="Arial" pitchFamily="34" charset="-122"/>
                <a:cs typeface="Arial" pitchFamily="34" charset="-120"/>
              </a:rPr>
              <a:t>Industry Relations &amp; Partnerships</a:t>
            </a:r>
            <a:endParaRPr lang="en-US" sz="1100" dirty="0"/>
          </a:p>
        </p:txBody>
      </p:sp>
      <p:sp>
        <p:nvSpPr>
          <p:cNvPr id="22" name="Text 20"/>
          <p:cNvSpPr/>
          <p:nvPr/>
        </p:nvSpPr>
        <p:spPr>
          <a:xfrm>
            <a:off x="6126480" y="2331720"/>
            <a:ext cx="2194560" cy="1828800"/>
          </a:xfrm>
          <a:prstGeom prst="rect">
            <a:avLst/>
          </a:prstGeom>
          <a:noFill/>
          <a:ln/>
        </p:spPr>
        <p:txBody>
          <a:bodyPr wrap="square" rtlCol="0" anchor="ctr"/>
          <a:lstStyle/>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Artist partnership deals</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Booked mainstream EDM artists</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Event presence + sponsorships</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Deep industry connections</a:t>
            </a:r>
            <a:endParaRPr lang="en-US" sz="1000" dirty="0"/>
          </a:p>
          <a:p>
            <a:pPr marL="342900" indent="-342900">
              <a:spcAft>
                <a:spcPts val="600"/>
              </a:spcAft>
              <a:buSzPct val="100000"/>
              <a:buChar char="•"/>
            </a:pPr>
            <a:r>
              <a:rPr lang="en-US" sz="1000" dirty="0">
                <a:solidFill>
                  <a:srgbClr val="B0B0C0"/>
                </a:solidFill>
                <a:latin typeface="Arial" pitchFamily="34" charset="0"/>
                <a:ea typeface="Arial" pitchFamily="34" charset="-122"/>
                <a:cs typeface="Arial" pitchFamily="34" charset="-120"/>
              </a:rPr>
              <a:t>Entrepreneur + business owner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15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Your Role, Joe</a:t>
            </a:r>
            <a:endParaRPr lang="en-US" sz="3600" dirty="0"/>
          </a:p>
        </p:txBody>
      </p:sp>
      <p:sp>
        <p:nvSpPr>
          <p:cNvPr id="7" name="Text 5"/>
          <p:cNvSpPr/>
          <p:nvPr/>
        </p:nvSpPr>
        <p:spPr>
          <a:xfrm>
            <a:off x="640080" y="868680"/>
            <a:ext cx="7315200" cy="320040"/>
          </a:xfrm>
          <a:prstGeom prst="rect">
            <a:avLst/>
          </a:prstGeom>
          <a:noFill/>
          <a:ln/>
        </p:spPr>
        <p:txBody>
          <a:bodyPr wrap="square" lIns="0" tIns="0" rIns="0" bIns="0" rtlCol="0" anchor="ctr"/>
          <a:lstStyle/>
          <a:p>
            <a:pPr indent="0" marL="0">
              <a:buNone/>
            </a:pPr>
            <a:r>
              <a:rPr lang="en-US" sz="1600" b="1" dirty="0">
                <a:solidFill>
                  <a:srgbClr val="38BDF8"/>
                </a:solidFill>
                <a:latin typeface="Arial" pitchFamily="34" charset="0"/>
                <a:ea typeface="Arial" pitchFamily="34" charset="-122"/>
                <a:cs typeface="Arial" pitchFamily="34" charset="-120"/>
              </a:rPr>
              <a:t>Head of Brand &amp; Business Development</a:t>
            </a:r>
            <a:endParaRPr lang="en-US" sz="1600" dirty="0"/>
          </a:p>
        </p:txBody>
      </p:sp>
      <p:sp>
        <p:nvSpPr>
          <p:cNvPr id="8" name="Shape 6"/>
          <p:cNvSpPr/>
          <p:nvPr/>
        </p:nvSpPr>
        <p:spPr>
          <a:xfrm>
            <a:off x="640080" y="1371600"/>
            <a:ext cx="7863840" cy="7772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9" name="Image 0" descr="preencoded.png">    </p:cNvPr>
          <p:cNvPicPr>
            <a:picLocks noChangeAspect="1"/>
          </p:cNvPicPr>
          <p:nvPr/>
        </p:nvPicPr>
        <p:blipFill>
          <a:blip r:embed="rId1"/>
          <a:stretch>
            <a:fillRect/>
          </a:stretch>
        </p:blipFill>
        <p:spPr>
          <a:xfrm>
            <a:off x="868680" y="1554480"/>
            <a:ext cx="365760" cy="365760"/>
          </a:xfrm>
          <a:prstGeom prst="rect">
            <a:avLst/>
          </a:prstGeom>
        </p:spPr>
      </p:pic>
      <p:sp>
        <p:nvSpPr>
          <p:cNvPr id="10" name="Text 7"/>
          <p:cNvSpPr/>
          <p:nvPr/>
        </p:nvSpPr>
        <p:spPr>
          <a:xfrm>
            <a:off x="1417320" y="1417320"/>
            <a:ext cx="2286000" cy="274320"/>
          </a:xfrm>
          <a:prstGeom prst="rect">
            <a:avLst/>
          </a:prstGeom>
          <a:noFill/>
          <a:ln/>
        </p:spPr>
        <p:txBody>
          <a:bodyPr wrap="square" lIns="0" tIns="0" rIns="0" bIns="0" rtlCol="0" anchor="ctr"/>
          <a:lstStyle/>
          <a:p>
            <a:pPr indent="0" marL="0">
              <a:buNone/>
            </a:pPr>
            <a:r>
              <a:rPr lang="en-US" sz="1400" b="1" dirty="0">
                <a:solidFill>
                  <a:srgbClr val="A78BFA"/>
                </a:solidFill>
                <a:latin typeface="Arial" pitchFamily="34" charset="0"/>
                <a:ea typeface="Arial" pitchFamily="34" charset="-122"/>
                <a:cs typeface="Arial" pitchFamily="34" charset="-120"/>
              </a:rPr>
              <a:t>Brand &amp; Design</a:t>
            </a:r>
            <a:endParaRPr lang="en-US" sz="1400" dirty="0"/>
          </a:p>
        </p:txBody>
      </p:sp>
      <p:sp>
        <p:nvSpPr>
          <p:cNvPr id="11" name="Text 8"/>
          <p:cNvSpPr/>
          <p:nvPr/>
        </p:nvSpPr>
        <p:spPr>
          <a:xfrm>
            <a:off x="1417320" y="1673352"/>
            <a:ext cx="685800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Own the visual identity — logo, color system, marketing assets, app aesthetic direction, social presence. Your Holy Ghost experience building a brand from zero is exactly what BeatBrain needs.</a:t>
            </a:r>
            <a:endParaRPr lang="en-US" sz="1000" dirty="0"/>
          </a:p>
        </p:txBody>
      </p:sp>
      <p:sp>
        <p:nvSpPr>
          <p:cNvPr id="12" name="Shape 9"/>
          <p:cNvSpPr/>
          <p:nvPr/>
        </p:nvSpPr>
        <p:spPr>
          <a:xfrm>
            <a:off x="640080" y="2286000"/>
            <a:ext cx="7863840" cy="7772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3" name="Image 1" descr="preencoded.png">    </p:cNvPr>
          <p:cNvPicPr>
            <a:picLocks noChangeAspect="1"/>
          </p:cNvPicPr>
          <p:nvPr/>
        </p:nvPicPr>
        <p:blipFill>
          <a:blip r:embed="rId2"/>
          <a:stretch>
            <a:fillRect/>
          </a:stretch>
        </p:blipFill>
        <p:spPr>
          <a:xfrm>
            <a:off x="868680" y="2468880"/>
            <a:ext cx="365760" cy="365760"/>
          </a:xfrm>
          <a:prstGeom prst="rect">
            <a:avLst/>
          </a:prstGeom>
        </p:spPr>
      </p:pic>
      <p:sp>
        <p:nvSpPr>
          <p:cNvPr id="14" name="Text 10"/>
          <p:cNvSpPr/>
          <p:nvPr/>
        </p:nvSpPr>
        <p:spPr>
          <a:xfrm>
            <a:off x="1417320" y="2331720"/>
            <a:ext cx="2286000" cy="274320"/>
          </a:xfrm>
          <a:prstGeom prst="rect">
            <a:avLst/>
          </a:prstGeom>
          <a:noFill/>
          <a:ln/>
        </p:spPr>
        <p:txBody>
          <a:bodyPr wrap="square" lIns="0" tIns="0" rIns="0" bIns="0" rtlCol="0" anchor="ctr"/>
          <a:lstStyle/>
          <a:p>
            <a:pPr indent="0" marL="0">
              <a:buNone/>
            </a:pPr>
            <a:r>
              <a:rPr lang="en-US" sz="1400" b="1" dirty="0">
                <a:solidFill>
                  <a:srgbClr val="E8A230"/>
                </a:solidFill>
                <a:latin typeface="Arial" pitchFamily="34" charset="0"/>
                <a:ea typeface="Arial" pitchFamily="34" charset="-122"/>
                <a:cs typeface="Arial" pitchFamily="34" charset="-120"/>
              </a:rPr>
              <a:t>Partnerships &amp; Outreach</a:t>
            </a:r>
            <a:endParaRPr lang="en-US" sz="1400" dirty="0"/>
          </a:p>
        </p:txBody>
      </p:sp>
      <p:sp>
        <p:nvSpPr>
          <p:cNvPr id="15" name="Text 11"/>
          <p:cNvSpPr/>
          <p:nvPr/>
        </p:nvSpPr>
        <p:spPr>
          <a:xfrm>
            <a:off x="1417320" y="2587752"/>
            <a:ext cx="685800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Build relationships with music schools, DAW companies, sample pack creators, plugin developers. Negotiate sponsorship and endorsement deals. You know how to open doors.</a:t>
            </a:r>
            <a:endParaRPr lang="en-US" sz="1000" dirty="0"/>
          </a:p>
        </p:txBody>
      </p:sp>
      <p:sp>
        <p:nvSpPr>
          <p:cNvPr id="16" name="Shape 12"/>
          <p:cNvSpPr/>
          <p:nvPr/>
        </p:nvSpPr>
        <p:spPr>
          <a:xfrm>
            <a:off x="640080" y="3200400"/>
            <a:ext cx="7863840" cy="7772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17" name="Image 2" descr="preencoded.png">    </p:cNvPr>
          <p:cNvPicPr>
            <a:picLocks noChangeAspect="1"/>
          </p:cNvPicPr>
          <p:nvPr/>
        </p:nvPicPr>
        <p:blipFill>
          <a:blip r:embed="rId3"/>
          <a:stretch>
            <a:fillRect/>
          </a:stretch>
        </p:blipFill>
        <p:spPr>
          <a:xfrm>
            <a:off x="868680" y="3383280"/>
            <a:ext cx="365760" cy="365760"/>
          </a:xfrm>
          <a:prstGeom prst="rect">
            <a:avLst/>
          </a:prstGeom>
        </p:spPr>
      </p:pic>
      <p:sp>
        <p:nvSpPr>
          <p:cNvPr id="18" name="Text 13"/>
          <p:cNvSpPr/>
          <p:nvPr/>
        </p:nvSpPr>
        <p:spPr>
          <a:xfrm>
            <a:off x="1417320" y="3246120"/>
            <a:ext cx="2286000" cy="274320"/>
          </a:xfrm>
          <a:prstGeom prst="rect">
            <a:avLst/>
          </a:prstGeom>
          <a:noFill/>
          <a:ln/>
        </p:spPr>
        <p:txBody>
          <a:bodyPr wrap="square" lIns="0" tIns="0" rIns="0" bIns="0" rtlCol="0" anchor="ctr"/>
          <a:lstStyle/>
          <a:p>
            <a:pPr indent="0" marL="0">
              <a:buNone/>
            </a:pPr>
            <a:r>
              <a:rPr lang="en-US" sz="1400" b="1" dirty="0">
                <a:solidFill>
                  <a:srgbClr val="4ADE80"/>
                </a:solidFill>
                <a:latin typeface="Arial" pitchFamily="34" charset="0"/>
                <a:ea typeface="Arial" pitchFamily="34" charset="-122"/>
                <a:cs typeface="Arial" pitchFamily="34" charset="-120"/>
              </a:rPr>
              <a:t>Go-To-Market</a:t>
            </a:r>
            <a:endParaRPr lang="en-US" sz="1400" dirty="0"/>
          </a:p>
        </p:txBody>
      </p:sp>
      <p:sp>
        <p:nvSpPr>
          <p:cNvPr id="19" name="Text 14"/>
          <p:cNvSpPr/>
          <p:nvPr/>
        </p:nvSpPr>
        <p:spPr>
          <a:xfrm>
            <a:off x="1417320" y="3502152"/>
            <a:ext cx="685800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Execute the organic rollout — coordinate the beta testing program through our fraternity, B2B's DJ network, and extended circles. Manage the feedback loop that turns beta into product.</a:t>
            </a:r>
            <a:endParaRPr lang="en-US" sz="1000" dirty="0"/>
          </a:p>
        </p:txBody>
      </p:sp>
      <p:sp>
        <p:nvSpPr>
          <p:cNvPr id="20" name="Shape 15"/>
          <p:cNvSpPr/>
          <p:nvPr/>
        </p:nvSpPr>
        <p:spPr>
          <a:xfrm>
            <a:off x="640080" y="4114800"/>
            <a:ext cx="7863840" cy="777240"/>
          </a:xfrm>
          <a:prstGeom prst="rectangle">
            <a:avLst/>
          </a:prstGeom>
          <a:solidFill>
            <a:srgbClr val="16161F"/>
          </a:solidFill>
          <a:ln/>
          <a:effectLst>
            <a:outerShdw sx="100000" sy="100000" kx="0" ky="0" algn="bl" rotWithShape="0" blurRad="76200" dist="25400" dir="8100000">
              <a:srgbClr val="000000">
                <a:alpha val="30000"/>
              </a:srgbClr>
            </a:outerShdw>
          </a:effectLst>
        </p:spPr>
      </p:sp>
      <p:pic>
        <p:nvPicPr>
          <p:cNvPr id="21" name="Image 3" descr="preencoded.png">    </p:cNvPr>
          <p:cNvPicPr>
            <a:picLocks noChangeAspect="1"/>
          </p:cNvPicPr>
          <p:nvPr/>
        </p:nvPicPr>
        <p:blipFill>
          <a:blip r:embed="rId4"/>
          <a:stretch>
            <a:fillRect/>
          </a:stretch>
        </p:blipFill>
        <p:spPr>
          <a:xfrm>
            <a:off x="868680" y="4297680"/>
            <a:ext cx="365760" cy="365760"/>
          </a:xfrm>
          <a:prstGeom prst="rect">
            <a:avLst/>
          </a:prstGeom>
        </p:spPr>
      </p:pic>
      <p:sp>
        <p:nvSpPr>
          <p:cNvPr id="22" name="Text 16"/>
          <p:cNvSpPr/>
          <p:nvPr/>
        </p:nvSpPr>
        <p:spPr>
          <a:xfrm>
            <a:off x="1417320" y="4160520"/>
            <a:ext cx="2286000" cy="27432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Business Development</a:t>
            </a:r>
            <a:endParaRPr lang="en-US" sz="1400" dirty="0"/>
          </a:p>
        </p:txBody>
      </p:sp>
      <p:sp>
        <p:nvSpPr>
          <p:cNvPr id="23" name="Text 17"/>
          <p:cNvSpPr/>
          <p:nvPr/>
        </p:nvSpPr>
        <p:spPr>
          <a:xfrm>
            <a:off x="1417320" y="4416552"/>
            <a:ext cx="6858000" cy="411480"/>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Pitch decks, investor conversations, revenue strategy. Your attention to detail and entrepreneurial experience makes you the right person in the room for these conversations.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sp>
        <p:nvSpPr>
          <p:cNvPr id="3" name="Shape 1"/>
          <p:cNvSpPr/>
          <p:nvPr/>
        </p:nvSpPr>
        <p:spPr>
          <a:xfrm>
            <a:off x="0" y="4800600"/>
            <a:ext cx="9144000" cy="342900"/>
          </a:xfrm>
          <a:prstGeom prst="rectangle">
            <a:avLst/>
          </a:prstGeom>
          <a:solidFill>
            <a:srgbClr val="070710"/>
          </a:solidFill>
          <a:ln/>
        </p:spPr>
      </p:sp>
      <p:sp>
        <p:nvSpPr>
          <p:cNvPr id="4" name="Text 2"/>
          <p:cNvSpPr/>
          <p:nvPr/>
        </p:nvSpPr>
        <p:spPr>
          <a:xfrm>
            <a:off x="457200" y="4800600"/>
            <a:ext cx="4572000" cy="342900"/>
          </a:xfrm>
          <a:prstGeom prst="rect">
            <a:avLst/>
          </a:prstGeom>
          <a:noFill/>
          <a:ln/>
        </p:spPr>
        <p:txBody>
          <a:bodyPr wrap="square" rtlCol="0" anchor="ctr"/>
          <a:lstStyle/>
          <a:p>
            <a:pPr indent="0" marL="0">
              <a:buNone/>
            </a:pPr>
            <a:r>
              <a:rPr lang="en-US" sz="800" i="1" dirty="0">
                <a:solidFill>
                  <a:srgbClr val="6B6B80"/>
                </a:solidFill>
                <a:latin typeface="Arial" pitchFamily="34" charset="0"/>
                <a:ea typeface="Arial" pitchFamily="34" charset="-122"/>
                <a:cs typeface="Arial" pitchFamily="34" charset="-120"/>
              </a:rPr>
              <a:t>BeatBrain  —  Confidential</a:t>
            </a:r>
            <a:endParaRPr lang="en-US" sz="800" dirty="0"/>
          </a:p>
        </p:txBody>
      </p:sp>
      <p:sp>
        <p:nvSpPr>
          <p:cNvPr id="5" name="Text 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16 / 17</a:t>
            </a:r>
            <a:endParaRPr lang="en-US" sz="900" dirty="0"/>
          </a:p>
        </p:txBody>
      </p:sp>
      <p:sp>
        <p:nvSpPr>
          <p:cNvPr id="6" name="Text 4"/>
          <p:cNvSpPr/>
          <p:nvPr/>
        </p:nvSpPr>
        <p:spPr>
          <a:xfrm>
            <a:off x="640080" y="365760"/>
            <a:ext cx="7315200" cy="548640"/>
          </a:xfrm>
          <a:prstGeom prst="rect">
            <a:avLst/>
          </a:prstGeom>
          <a:noFill/>
          <a:ln/>
        </p:spPr>
        <p:txBody>
          <a:bodyPr wrap="square" lIns="0" tIns="0" rIns="0" bIns="0" rtlCol="0" anchor="ctr"/>
          <a:lstStyle/>
          <a:p>
            <a:pPr indent="0" marL="0">
              <a:buNone/>
            </a:pPr>
            <a:r>
              <a:rPr lang="en-US" sz="3600" dirty="0">
                <a:solidFill>
                  <a:srgbClr val="F0F0F5"/>
                </a:solidFill>
                <a:latin typeface="Arial Black" pitchFamily="34" charset="0"/>
                <a:ea typeface="Arial Black" pitchFamily="34" charset="-122"/>
                <a:cs typeface="Arial Black" pitchFamily="34" charset="-120"/>
              </a:rPr>
              <a:t>Partnership Structure</a:t>
            </a:r>
            <a:endParaRPr lang="en-US" sz="3600" dirty="0"/>
          </a:p>
        </p:txBody>
      </p:sp>
      <p:sp>
        <p:nvSpPr>
          <p:cNvPr id="7" name="Text 5"/>
          <p:cNvSpPr/>
          <p:nvPr/>
        </p:nvSpPr>
        <p:spPr>
          <a:xfrm>
            <a:off x="640080" y="914400"/>
            <a:ext cx="7863840" cy="320040"/>
          </a:xfrm>
          <a:prstGeom prst="rect">
            <a:avLst/>
          </a:prstGeom>
          <a:noFill/>
          <a:ln/>
        </p:spPr>
        <p:txBody>
          <a:bodyPr wrap="square" lIns="0" tIns="0" rIns="0" bIns="0" rtlCol="0" anchor="ctr"/>
          <a:lstStyle/>
          <a:p>
            <a:pPr indent="0" marL="0">
              <a:buNone/>
            </a:pPr>
            <a:r>
              <a:rPr lang="en-US" sz="1300" dirty="0">
                <a:solidFill>
                  <a:srgbClr val="B0B0C0"/>
                </a:solidFill>
                <a:latin typeface="Arial" pitchFamily="34" charset="0"/>
                <a:ea typeface="Arial" pitchFamily="34" charset="-122"/>
                <a:cs typeface="Arial" pitchFamily="34" charset="-120"/>
              </a:rPr>
              <a:t>Fair, transparent, built for the long term.</a:t>
            </a:r>
            <a:endParaRPr lang="en-US" sz="1300" dirty="0"/>
          </a:p>
        </p:txBody>
      </p:sp>
      <p:sp>
        <p:nvSpPr>
          <p:cNvPr id="8" name="Shape 6"/>
          <p:cNvSpPr/>
          <p:nvPr/>
        </p:nvSpPr>
        <p:spPr>
          <a:xfrm>
            <a:off x="640080" y="1463040"/>
            <a:ext cx="3657600" cy="25603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9" name="Text 7"/>
          <p:cNvSpPr/>
          <p:nvPr/>
        </p:nvSpPr>
        <p:spPr>
          <a:xfrm>
            <a:off x="822960" y="1554480"/>
            <a:ext cx="3200400" cy="32004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Equity Split</a:t>
            </a:r>
            <a:endParaRPr lang="en-US" sz="1600" dirty="0"/>
          </a:p>
        </p:txBody>
      </p:sp>
      <p:sp>
        <p:nvSpPr>
          <p:cNvPr id="10" name="Shape 8"/>
          <p:cNvSpPr/>
          <p:nvPr/>
        </p:nvSpPr>
        <p:spPr>
          <a:xfrm>
            <a:off x="822960" y="2011680"/>
            <a:ext cx="2926080" cy="365760"/>
          </a:xfrm>
          <a:prstGeom prst="rectangle">
            <a:avLst/>
          </a:prstGeom>
          <a:solidFill>
            <a:srgbClr val="E8A230"/>
          </a:solidFill>
          <a:ln/>
        </p:spPr>
      </p:sp>
      <p:sp>
        <p:nvSpPr>
          <p:cNvPr id="11" name="Text 9"/>
          <p:cNvSpPr/>
          <p:nvPr/>
        </p:nvSpPr>
        <p:spPr>
          <a:xfrm>
            <a:off x="868680" y="2011680"/>
            <a:ext cx="2834640" cy="365760"/>
          </a:xfrm>
          <a:prstGeom prst="rect">
            <a:avLst/>
          </a:prstGeom>
          <a:noFill/>
          <a:ln/>
        </p:spPr>
        <p:txBody>
          <a:bodyPr wrap="square" lIns="0" tIns="0" rIns="0" bIns="0" rtlCol="0" anchor="ctr"/>
          <a:lstStyle/>
          <a:p>
            <a:pPr indent="0" marL="0">
              <a:buNone/>
            </a:pPr>
            <a:r>
              <a:rPr lang="en-US" sz="1000" b="1" dirty="0">
                <a:solidFill>
                  <a:srgbClr val="0A0A10"/>
                </a:solidFill>
                <a:latin typeface="Arial" pitchFamily="34" charset="0"/>
                <a:ea typeface="Arial" pitchFamily="34" charset="-122"/>
                <a:cs typeface="Arial" pitchFamily="34" charset="-120"/>
              </a:rPr>
              <a:t>Will — Majority (Founder, built the product)</a:t>
            </a:r>
            <a:endParaRPr lang="en-US" sz="1000" dirty="0"/>
          </a:p>
        </p:txBody>
      </p:sp>
      <p:sp>
        <p:nvSpPr>
          <p:cNvPr id="12" name="Shape 10"/>
          <p:cNvSpPr/>
          <p:nvPr/>
        </p:nvSpPr>
        <p:spPr>
          <a:xfrm>
            <a:off x="822960" y="2514600"/>
            <a:ext cx="1645920" cy="365760"/>
          </a:xfrm>
          <a:prstGeom prst="rectangle">
            <a:avLst/>
          </a:prstGeom>
          <a:solidFill>
            <a:srgbClr val="38BDF8"/>
          </a:solidFill>
          <a:ln/>
        </p:spPr>
      </p:sp>
      <p:sp>
        <p:nvSpPr>
          <p:cNvPr id="13" name="Text 11"/>
          <p:cNvSpPr/>
          <p:nvPr/>
        </p:nvSpPr>
        <p:spPr>
          <a:xfrm>
            <a:off x="868680" y="2514600"/>
            <a:ext cx="1554480" cy="365760"/>
          </a:xfrm>
          <a:prstGeom prst="rect">
            <a:avLst/>
          </a:prstGeom>
          <a:noFill/>
          <a:ln/>
        </p:spPr>
        <p:txBody>
          <a:bodyPr wrap="square" lIns="0" tIns="0" rIns="0" bIns="0" rtlCol="0" anchor="ctr"/>
          <a:lstStyle/>
          <a:p>
            <a:pPr indent="0" marL="0">
              <a:buNone/>
            </a:pPr>
            <a:r>
              <a:rPr lang="en-US" sz="1000" b="1" dirty="0">
                <a:solidFill>
                  <a:srgbClr val="0A0A10"/>
                </a:solidFill>
                <a:latin typeface="Arial" pitchFamily="34" charset="0"/>
                <a:ea typeface="Arial" pitchFamily="34" charset="-122"/>
                <a:cs typeface="Arial" pitchFamily="34" charset="-120"/>
              </a:rPr>
              <a:t>Joe</a:t>
            </a:r>
            <a:endParaRPr lang="en-US" sz="1000" dirty="0"/>
          </a:p>
        </p:txBody>
      </p:sp>
      <p:sp>
        <p:nvSpPr>
          <p:cNvPr id="14" name="Shape 12"/>
          <p:cNvSpPr/>
          <p:nvPr/>
        </p:nvSpPr>
        <p:spPr>
          <a:xfrm>
            <a:off x="822960" y="3017520"/>
            <a:ext cx="914400" cy="365760"/>
          </a:xfrm>
          <a:prstGeom prst="rectangle">
            <a:avLst/>
          </a:prstGeom>
          <a:solidFill>
            <a:srgbClr val="A78BFA"/>
          </a:solidFill>
          <a:ln/>
        </p:spPr>
      </p:sp>
      <p:sp>
        <p:nvSpPr>
          <p:cNvPr id="15" name="Text 13"/>
          <p:cNvSpPr/>
          <p:nvPr/>
        </p:nvSpPr>
        <p:spPr>
          <a:xfrm>
            <a:off x="868680" y="3017520"/>
            <a:ext cx="822960" cy="365760"/>
          </a:xfrm>
          <a:prstGeom prst="rect">
            <a:avLst/>
          </a:prstGeom>
          <a:noFill/>
          <a:ln/>
        </p:spPr>
        <p:txBody>
          <a:bodyPr wrap="square" lIns="0" tIns="0" rIns="0" bIns="0" rtlCol="0" anchor="ctr"/>
          <a:lstStyle/>
          <a:p>
            <a:pPr indent="0" marL="0">
              <a:buNone/>
            </a:pPr>
            <a:r>
              <a:rPr lang="en-US" sz="1000" b="1" dirty="0">
                <a:solidFill>
                  <a:srgbClr val="0A0A10"/>
                </a:solidFill>
                <a:latin typeface="Arial" pitchFamily="34" charset="0"/>
                <a:ea typeface="Arial" pitchFamily="34" charset="-122"/>
                <a:cs typeface="Arial" pitchFamily="34" charset="-120"/>
              </a:rPr>
              <a:t>Frankie</a:t>
            </a:r>
            <a:endParaRPr lang="en-US" sz="1000" dirty="0"/>
          </a:p>
        </p:txBody>
      </p:sp>
      <p:sp>
        <p:nvSpPr>
          <p:cNvPr id="16" name="Text 14"/>
          <p:cNvSpPr/>
          <p:nvPr/>
        </p:nvSpPr>
        <p:spPr>
          <a:xfrm>
            <a:off x="822960" y="3520440"/>
            <a:ext cx="3200400" cy="411480"/>
          </a:xfrm>
          <a:prstGeom prst="rect">
            <a:avLst/>
          </a:prstGeom>
          <a:noFill/>
          <a:ln/>
        </p:spPr>
        <p:txBody>
          <a:bodyPr wrap="square" lIns="0" tIns="0" rIns="0" bIns="0" rtlCol="0" anchor="ctr"/>
          <a:lstStyle/>
          <a:p>
            <a:pPr indent="0" marL="0">
              <a:lnSpc>
                <a:spcPct val="140000"/>
              </a:lnSpc>
              <a:buNone/>
            </a:pPr>
            <a:r>
              <a:rPr lang="en-US" sz="1000" i="1" dirty="0">
                <a:solidFill>
                  <a:srgbClr val="6B6B80"/>
                </a:solidFill>
                <a:latin typeface="Arial" pitchFamily="34" charset="0"/>
                <a:ea typeface="Arial" pitchFamily="34" charset="-122"/>
                <a:cs typeface="Arial" pitchFamily="34" charset="-120"/>
              </a:rPr>
              <a:t>Exact percentages to be discussed together.</a:t>
            </a:r>
            <a:endParaRPr lang="en-US" sz="1000" dirty="0"/>
          </a:p>
          <a:p>
            <a:pPr indent="0" marL="0">
              <a:lnSpc>
                <a:spcPct val="140000"/>
              </a:lnSpc>
              <a:buNone/>
            </a:pPr>
            <a:r>
              <a:rPr lang="en-US" sz="1000" i="1" dirty="0">
                <a:solidFill>
                  <a:srgbClr val="6B6B80"/>
                </a:solidFill>
                <a:latin typeface="Arial" pitchFamily="34" charset="0"/>
                <a:ea typeface="Arial" pitchFamily="34" charset="-122"/>
                <a:cs typeface="Arial" pitchFamily="34" charset="-120"/>
              </a:rPr>
              <a:t>Reflects timing, risk, and contribution.</a:t>
            </a:r>
            <a:endParaRPr lang="en-US" sz="1000" dirty="0"/>
          </a:p>
        </p:txBody>
      </p:sp>
      <p:sp>
        <p:nvSpPr>
          <p:cNvPr id="17" name="Shape 15"/>
          <p:cNvSpPr/>
          <p:nvPr/>
        </p:nvSpPr>
        <p:spPr>
          <a:xfrm>
            <a:off x="4572000" y="1463040"/>
            <a:ext cx="3931920" cy="2560320"/>
          </a:xfrm>
          <a:prstGeom prst="rectangle">
            <a:avLst/>
          </a:prstGeom>
          <a:solidFill>
            <a:srgbClr val="16161F"/>
          </a:solidFill>
          <a:ln/>
          <a:effectLst>
            <a:outerShdw sx="100000" sy="100000" kx="0" ky="0" algn="bl" rotWithShape="0" blurRad="76200" dist="25400" dir="8100000">
              <a:srgbClr val="000000">
                <a:alpha val="30000"/>
              </a:srgbClr>
            </a:outerShdw>
          </a:effectLst>
        </p:spPr>
      </p:sp>
      <p:sp>
        <p:nvSpPr>
          <p:cNvPr id="18" name="Text 16"/>
          <p:cNvSpPr/>
          <p:nvPr/>
        </p:nvSpPr>
        <p:spPr>
          <a:xfrm>
            <a:off x="4754880" y="1554480"/>
            <a:ext cx="3566160" cy="320040"/>
          </a:xfrm>
          <a:prstGeom prst="rect">
            <a:avLst/>
          </a:prstGeom>
          <a:noFill/>
          <a:ln/>
        </p:spPr>
        <p:txBody>
          <a:bodyPr wrap="square" lIns="0" tIns="0" rIns="0" bIns="0" rtlCol="0" anchor="ctr"/>
          <a:lstStyle/>
          <a:p>
            <a:pPr indent="0" marL="0">
              <a:buNone/>
            </a:pPr>
            <a:r>
              <a:rPr lang="en-US" sz="1600" b="1" dirty="0">
                <a:solidFill>
                  <a:srgbClr val="E8A230"/>
                </a:solidFill>
                <a:latin typeface="Arial" pitchFamily="34" charset="0"/>
                <a:ea typeface="Arial" pitchFamily="34" charset="-122"/>
                <a:cs typeface="Arial" pitchFamily="34" charset="-120"/>
              </a:rPr>
              <a:t>How It Works</a:t>
            </a:r>
            <a:endParaRPr lang="en-US" sz="1600" dirty="0"/>
          </a:p>
        </p:txBody>
      </p:sp>
      <p:pic>
        <p:nvPicPr>
          <p:cNvPr id="19" name="Image 0" descr="preencoded.png">    </p:cNvPr>
          <p:cNvPicPr>
            <a:picLocks noChangeAspect="1"/>
          </p:cNvPicPr>
          <p:nvPr/>
        </p:nvPicPr>
        <p:blipFill>
          <a:blip r:embed="rId1"/>
          <a:stretch>
            <a:fillRect/>
          </a:stretch>
        </p:blipFill>
        <p:spPr>
          <a:xfrm>
            <a:off x="4754880" y="2039112"/>
            <a:ext cx="228600" cy="228600"/>
          </a:xfrm>
          <a:prstGeom prst="rect">
            <a:avLst/>
          </a:prstGeom>
        </p:spPr>
      </p:pic>
      <p:sp>
        <p:nvSpPr>
          <p:cNvPr id="20" name="Text 17"/>
          <p:cNvSpPr/>
          <p:nvPr/>
        </p:nvSpPr>
        <p:spPr>
          <a:xfrm>
            <a:off x="5120640" y="2011680"/>
            <a:ext cx="32004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4-year vesting with 1-year cliff — protects everyone</a:t>
            </a:r>
            <a:endParaRPr lang="en-US" sz="1000" dirty="0"/>
          </a:p>
        </p:txBody>
      </p:sp>
      <p:pic>
        <p:nvPicPr>
          <p:cNvPr id="21" name="Image 1" descr="preencoded.png">    </p:cNvPr>
          <p:cNvPicPr>
            <a:picLocks noChangeAspect="1"/>
          </p:cNvPicPr>
          <p:nvPr/>
        </p:nvPicPr>
        <p:blipFill>
          <a:blip r:embed="rId2"/>
          <a:stretch>
            <a:fillRect/>
          </a:stretch>
        </p:blipFill>
        <p:spPr>
          <a:xfrm>
            <a:off x="4754880" y="2496312"/>
            <a:ext cx="228600" cy="228600"/>
          </a:xfrm>
          <a:prstGeom prst="rect">
            <a:avLst/>
          </a:prstGeom>
        </p:spPr>
      </p:pic>
      <p:sp>
        <p:nvSpPr>
          <p:cNvPr id="22" name="Text 18"/>
          <p:cNvSpPr/>
          <p:nvPr/>
        </p:nvSpPr>
        <p:spPr>
          <a:xfrm>
            <a:off x="5120640" y="2468880"/>
            <a:ext cx="32004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Operating agreement in writing before equity is issued</a:t>
            </a:r>
            <a:endParaRPr lang="en-US" sz="1000" dirty="0"/>
          </a:p>
        </p:txBody>
      </p:sp>
      <p:pic>
        <p:nvPicPr>
          <p:cNvPr id="23" name="Image 2" descr="preencoded.png">    </p:cNvPr>
          <p:cNvPicPr>
            <a:picLocks noChangeAspect="1"/>
          </p:cNvPicPr>
          <p:nvPr/>
        </p:nvPicPr>
        <p:blipFill>
          <a:blip r:embed="rId3"/>
          <a:stretch>
            <a:fillRect/>
          </a:stretch>
        </p:blipFill>
        <p:spPr>
          <a:xfrm>
            <a:off x="4754880" y="2953512"/>
            <a:ext cx="228600" cy="228600"/>
          </a:xfrm>
          <a:prstGeom prst="rect">
            <a:avLst/>
          </a:prstGeom>
        </p:spPr>
      </p:pic>
      <p:sp>
        <p:nvSpPr>
          <p:cNvPr id="24" name="Text 19"/>
          <p:cNvSpPr/>
          <p:nvPr/>
        </p:nvSpPr>
        <p:spPr>
          <a:xfrm>
            <a:off x="5120640" y="2926080"/>
            <a:ext cx="32004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Clear roles — no overlap, no ambiguity on who owns what</a:t>
            </a:r>
            <a:endParaRPr lang="en-US" sz="1000" dirty="0"/>
          </a:p>
        </p:txBody>
      </p:sp>
      <p:pic>
        <p:nvPicPr>
          <p:cNvPr id="25" name="Image 3" descr="preencoded.png">    </p:cNvPr>
          <p:cNvPicPr>
            <a:picLocks noChangeAspect="1"/>
          </p:cNvPicPr>
          <p:nvPr/>
        </p:nvPicPr>
        <p:blipFill>
          <a:blip r:embed="rId4"/>
          <a:stretch>
            <a:fillRect/>
          </a:stretch>
        </p:blipFill>
        <p:spPr>
          <a:xfrm>
            <a:off x="4754880" y="3410712"/>
            <a:ext cx="228600" cy="228600"/>
          </a:xfrm>
          <a:prstGeom prst="rect">
            <a:avLst/>
          </a:prstGeom>
        </p:spPr>
      </p:pic>
      <p:sp>
        <p:nvSpPr>
          <p:cNvPr id="26" name="Text 20"/>
          <p:cNvSpPr/>
          <p:nvPr/>
        </p:nvSpPr>
        <p:spPr>
          <a:xfrm>
            <a:off x="5120640" y="3383280"/>
            <a:ext cx="3200400" cy="384048"/>
          </a:xfrm>
          <a:prstGeom prst="rect">
            <a:avLst/>
          </a:prstGeom>
          <a:noFill/>
          <a:ln/>
        </p:spPr>
        <p:txBody>
          <a:bodyPr wrap="square" lIns="0" tIns="0" rIns="0" bIns="0" rtlCol="0" anchor="ctr"/>
          <a:lstStyle/>
          <a:p>
            <a:pPr indent="0" marL="0">
              <a:lnSpc>
                <a:spcPct val="130000"/>
              </a:lnSpc>
              <a:buNone/>
            </a:pPr>
            <a:r>
              <a:rPr lang="en-US" sz="1000" dirty="0">
                <a:solidFill>
                  <a:srgbClr val="B0B0C0"/>
                </a:solidFill>
                <a:latin typeface="Arial" pitchFamily="34" charset="0"/>
                <a:ea typeface="Arial" pitchFamily="34" charset="-122"/>
                <a:cs typeface="Arial" pitchFamily="34" charset="-120"/>
              </a:rPr>
              <a:t>Decision rights defined — product vs business vs partnerships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E8A230"/>
          </a:solidFill>
          <a:ln/>
        </p:spPr>
      </p:sp>
      <p:pic>
        <p:nvPicPr>
          <p:cNvPr id="3" name="Image 0" descr="preencoded.png">    </p:cNvPr>
          <p:cNvPicPr>
            <a:picLocks noChangeAspect="1"/>
          </p:cNvPicPr>
          <p:nvPr/>
        </p:nvPicPr>
        <p:blipFill>
          <a:blip r:embed="rId1"/>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lIns="0" tIns="0" rIns="0" bIns="0" rtlCol="0" anchor="ctr"/>
          <a:lstStyle/>
          <a:p>
            <a:pPr algn="ctr" indent="0" marL="0">
              <a:buNone/>
            </a:pPr>
            <a:r>
              <a:rPr lang="en-US" sz="4400" dirty="0">
                <a:solidFill>
                  <a:srgbClr val="F0F0F5"/>
                </a:solidFill>
                <a:latin typeface="Arial Black" pitchFamily="34" charset="0"/>
                <a:ea typeface="Arial Black" pitchFamily="34" charset="-122"/>
                <a:cs typeface="Arial Black" pitchFamily="34" charset="-120"/>
              </a:rPr>
              <a:t>BeatBrain</a:t>
            </a:r>
            <a:endParaRPr lang="en-US" sz="4400" dirty="0"/>
          </a:p>
        </p:txBody>
      </p:sp>
      <p:sp>
        <p:nvSpPr>
          <p:cNvPr id="5" name="Text 2"/>
          <p:cNvSpPr/>
          <p:nvPr/>
        </p:nvSpPr>
        <p:spPr>
          <a:xfrm>
            <a:off x="457200" y="2560320"/>
            <a:ext cx="8229600" cy="365760"/>
          </a:xfrm>
          <a:prstGeom prst="rect">
            <a:avLst/>
          </a:prstGeom>
          <a:noFill/>
          <a:ln/>
        </p:spPr>
        <p:txBody>
          <a:bodyPr wrap="square" lIns="0" tIns="0" rIns="0" bIns="0" rtlCol="0" anchor="ctr"/>
          <a:lstStyle/>
          <a:p>
            <a:pPr algn="ctr" indent="0" marL="0">
              <a:buNone/>
            </a:pPr>
            <a:r>
              <a:rPr lang="en-US" sz="1600" dirty="0">
                <a:solidFill>
                  <a:srgbClr val="E8A230"/>
                </a:solidFill>
                <a:latin typeface="Arial" pitchFamily="34" charset="0"/>
                <a:ea typeface="Arial" pitchFamily="34" charset="-122"/>
                <a:cs typeface="Arial" pitchFamily="34" charset="-120"/>
              </a:rPr>
              <a:t>The AI production partner for every skill level.</a:t>
            </a:r>
            <a:endParaRPr lang="en-US" sz="1600" dirty="0"/>
          </a:p>
        </p:txBody>
      </p:sp>
      <p:sp>
        <p:nvSpPr>
          <p:cNvPr id="6" name="Shape 3"/>
          <p:cNvSpPr/>
          <p:nvPr/>
        </p:nvSpPr>
        <p:spPr>
          <a:xfrm>
            <a:off x="3200400" y="3108960"/>
            <a:ext cx="2743200" cy="18288"/>
          </a:xfrm>
          <a:prstGeom prst="rectangle">
            <a:avLst/>
          </a:prstGeom>
          <a:solidFill>
            <a:srgbClr val="1E1E2E"/>
          </a:solidFill>
          <a:ln/>
        </p:spPr>
      </p:sp>
      <p:sp>
        <p:nvSpPr>
          <p:cNvPr id="7" name="Text 4"/>
          <p:cNvSpPr/>
          <p:nvPr/>
        </p:nvSpPr>
        <p:spPr>
          <a:xfrm>
            <a:off x="457200" y="3337560"/>
            <a:ext cx="8229600" cy="457200"/>
          </a:xfrm>
          <a:prstGeom prst="rect">
            <a:avLst/>
          </a:prstGeom>
          <a:noFill/>
          <a:ln/>
        </p:spPr>
        <p:txBody>
          <a:bodyPr wrap="square" lIns="0" tIns="0" rIns="0" bIns="0" rtlCol="0" anchor="ctr"/>
          <a:lstStyle/>
          <a:p>
            <a:pPr algn="ctr" indent="0" marL="0">
              <a:buNone/>
            </a:pPr>
            <a:r>
              <a:rPr lang="en-US" sz="2200" dirty="0">
                <a:solidFill>
                  <a:srgbClr val="F0F0F5"/>
                </a:solidFill>
                <a:latin typeface="Arial" pitchFamily="34" charset="0"/>
                <a:ea typeface="Arial" pitchFamily="34" charset="-122"/>
                <a:cs typeface="Arial" pitchFamily="34" charset="-120"/>
              </a:rPr>
              <a:t>Let's build this together, Joe.</a:t>
            </a:r>
            <a:endParaRPr lang="en-US" sz="2200" dirty="0"/>
          </a:p>
        </p:txBody>
      </p:sp>
      <p:sp>
        <p:nvSpPr>
          <p:cNvPr id="8" name="Text 5"/>
          <p:cNvSpPr/>
          <p:nvPr/>
        </p:nvSpPr>
        <p:spPr>
          <a:xfrm>
            <a:off x="457200" y="3886200"/>
            <a:ext cx="8229600" cy="548640"/>
          </a:xfrm>
          <a:prstGeom prst="rect">
            <a:avLst/>
          </a:prstGeom>
          <a:noFill/>
          <a:ln/>
        </p:spPr>
        <p:txBody>
          <a:bodyPr wrap="square" lIns="0" tIns="0" rIns="0" bIns="0" rtlCol="0" anchor="ctr"/>
          <a:lstStyle/>
          <a:p>
            <a:pPr algn="ctr" indent="0" marL="0">
              <a:lnSpc>
                <a:spcPct val="150000"/>
              </a:lnSpc>
              <a:buNone/>
            </a:pPr>
            <a:r>
              <a:rPr lang="en-US" sz="1400" dirty="0">
                <a:solidFill>
                  <a:srgbClr val="B0B0C0"/>
                </a:solidFill>
                <a:latin typeface="Arial" pitchFamily="34" charset="0"/>
                <a:ea typeface="Arial" pitchFamily="34" charset="-122"/>
                <a:cs typeface="Arial" pitchFamily="34" charset="-120"/>
              </a:rPr>
              <a:t>The product is built. The vision is clear.</a:t>
            </a:r>
            <a:endParaRPr lang="en-US" sz="1400" dirty="0"/>
          </a:p>
          <a:p>
            <a:pPr algn="ctr" indent="0" marL="0">
              <a:lnSpc>
                <a:spcPct val="150000"/>
              </a:lnSpc>
              <a:buNone/>
            </a:pPr>
            <a:r>
              <a:rPr lang="en-US" sz="1400" dirty="0">
                <a:solidFill>
                  <a:srgbClr val="B0B0C0"/>
                </a:solidFill>
                <a:latin typeface="Arial" pitchFamily="34" charset="0"/>
                <a:ea typeface="Arial" pitchFamily="34" charset="-122"/>
                <a:cs typeface="Arial" pitchFamily="34" charset="-120"/>
              </a:rPr>
              <a:t>What's missing is you.</a:t>
            </a:r>
            <a:endParaRPr lang="en-US" sz="1400" dirty="0"/>
          </a:p>
        </p:txBody>
      </p:sp>
      <p:sp>
        <p:nvSpPr>
          <p:cNvPr id="9" name="Text 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6B80"/>
                </a:solidFill>
                <a:latin typeface="Arial" pitchFamily="34" charset="0"/>
                <a:ea typeface="Arial" pitchFamily="34" charset="-122"/>
                <a:cs typeface="Arial"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BeatBrain — Partner Pitch</dc:title>
  <dc:subject>PptxGenJS Presentation</dc:subject>
  <dc:creator>Will Andrews</dc:creator>
  <cp:lastModifiedBy>Will Andrews</cp:lastModifiedBy>
  <cp:revision>1</cp:revision>
  <dcterms:created xsi:type="dcterms:W3CDTF">2026-03-25T03:35:34Z</dcterms:created>
  <dcterms:modified xsi:type="dcterms:W3CDTF">2026-03-25T03:35:34Z</dcterms:modified>
</cp:coreProperties>
</file>